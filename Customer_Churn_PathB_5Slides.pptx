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74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Analysis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B: Validate Specific Recommendations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· Bayesian Experimentation · $370K Impact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 of 5  ·  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2296" cy="4114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customers are churning at a rate that is draining $942K in annual revenue. Predictive ML identifies who will churn — but that alone is not enough.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is: which interventions actually reduce churn? And do our instincts about what works hold up under rigorous causal testing?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06240" cy="109728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predict churn but cannot tell us whether promoting add-ons, changing contracts, or targeting new customers will actually lower it. Correlation ≠ causation.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822960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74920" y="822960"/>
            <a:ext cx="18288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1005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7492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822960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0" y="822960"/>
            <a:ext cx="1828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1005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$942K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04088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2304288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74920" y="2304288"/>
            <a:ext cx="182880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24871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07492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2304288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40880" y="2304288"/>
            <a:ext cx="1828800" cy="54864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0" y="24871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1,869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04088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Churners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3785616"/>
            <a:ext cx="3794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0" y="385876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need to test interventions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just predict who churns.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2 of 5  ·  ML Analysis: H2O AutoML Stacked Ensemble — Best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77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PySpark Decision Tree (baseline) → H2O AutoML (production)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170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Churn Drivers — Ranked by H2O Stacked Ensemble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517904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517904"/>
            <a:ext cx="438912" cy="4937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517904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Tenure ≤ 40 days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1810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vs 69% churn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9584" y="160934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+10pp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103120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103120"/>
            <a:ext cx="438912" cy="493776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103120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21579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Month-to-Month contract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9536" y="2395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vs 6.8% churn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9584" y="21945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+36pp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" y="2688336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2688336"/>
            <a:ext cx="438912" cy="493776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688336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2743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 check payment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" y="29809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 vs 17.1% churn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29584" y="277977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+28pp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" y="3273552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3273552"/>
            <a:ext cx="438912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273552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" y="33284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Fiber optic service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35661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 vs 14.5% churn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29584" y="33649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+27pp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7472" y="3895344"/>
            <a:ext cx="4297680" cy="877824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" y="395020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Add-on Services (naive): 71.4% vs 71.6% = −0.2%  →  NO EFFECT apparent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paradox is resolved by causal analysis on the next slide.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4920" y="822960"/>
            <a:ext cx="3794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74920" y="8229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BEST MODEL: H2O AutoML Stacked Ensemble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74920" y="1389888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74920" y="1389888"/>
            <a:ext cx="1783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7492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507492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(H2O Leaderboard CV)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1389888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95160" y="1389888"/>
            <a:ext cx="178308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9516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90.5%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699516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(churners caught)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74920" y="2798064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74920" y="2798064"/>
            <a:ext cx="178308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74920" y="298094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78.4%</a:t>
            </a: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5074920" y="36667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flagged churners)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95160" y="2798064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995160" y="2798064"/>
            <a:ext cx="1783080" cy="54864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95160" y="298094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0.474</a:t>
            </a:r>
            <a:endParaRPr lang="en-US" sz="3800" dirty="0"/>
          </a:p>
        </p:txBody>
      </p:sp>
      <p:sp>
        <p:nvSpPr>
          <p:cNvPr id="51" name="Text 49"/>
          <p:cNvSpPr/>
          <p:nvPr/>
        </p:nvSpPr>
        <p:spPr>
          <a:xfrm>
            <a:off x="6995160" y="36667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(max F1)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74920" y="4224528"/>
            <a:ext cx="379476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93792" y="42793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H2O AutoML wins: Stacked Ensemble combines GBM, XGBoost, and GLM base learners via a metalearner — outperforming any single algorithm. SMOTE applied pre-training for class balancing.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3 of 5  ·  Causal Validation: Resolving the Add-on Paradox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2296" cy="7132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Paradox: Customers who churn leave BEFORE adopting add-ons — creating confounding. Tenure acts as a collider: it is caused by both add-on adoption AND survival. Controlling for it creates spurious correlations (survivorship bias).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26517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COMPARISON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not Causation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246888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add-ons: 71.4% churn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71.6% churn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455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Effect: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015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−0.2%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5760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DIFFERENCE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(Misleading — due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by tenure)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2651760"/>
            <a:ext cx="640080" cy="640080"/>
          </a:xfrm>
          <a:prstGeom prst="rightArrow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49040" y="1719072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49040" y="1719072"/>
            <a:ext cx="28346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0" y="1719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CAUSAL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121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G-computation + Propensity Weighting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2414016"/>
            <a:ext cx="265176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50208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for: SeniorCitizen,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Dependents, Partner, Gender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3145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34015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−5.8%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840480" y="3913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[−8.2%, −3.4%]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4206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P(reduces churn by 5%+): 87%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2651760"/>
            <a:ext cx="640080" cy="640080"/>
          </a:xfrm>
          <a:prstGeom prst="rightArrow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06640" y="1719072"/>
            <a:ext cx="146304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0664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364992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DO reduce churn after controlling for tenure confounding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4 of 5  ·  Experimental Design: 3 Prioritised Bayesian Tests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ROI  ·  See targeted_bayesian_test_design.md for full specifications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2296" cy="11704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" y="1170432"/>
            <a:ext cx="804672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170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⭐⭐⭐ HIGHEST PRIORITY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463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Intervention — Customers ≤ 40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" y="17556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signal (+10pp penalty). Time-sensitive window. 25% of base, 79% churn.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120700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3 arms: Welcome Bundle ($75) · Concierge Onboarding ($50) · Smart Start Package ($125)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15727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100 customers/arm · 85% Bayesian power · 6–8 weeks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74920" y="186537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15%) &gt; 0.85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82296" cy="117043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" y="2468880"/>
            <a:ext cx="804672" cy="25603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24688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4871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⭐⭐ UNIVERSAL APPLICABILITY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" y="2761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+ Add-on Bundle — Month-to-Month Customers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" y="30540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of base are month-to-month. Validated add-on effect (−5.8% causal). Contract migration reduces churn by ~30pp.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2505456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2×2 factorial: Contract upgrade × Add-on bundle. 4 arms.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28712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150 customers/arm · 80% power · 12 weeks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74920" y="316382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10%) &gt; 0.80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9417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694176"/>
            <a:ext cx="82296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0624" y="3767328"/>
            <a:ext cx="80467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37673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3785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LOWER COST, MODEST EFFECT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Messaging — Senior Citizens &amp; No-Dependents Segment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" y="43525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signals (+1.3pp, +1.8pp) but large segment (31%). Low intervention cost.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380390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Personalised value messaging: bill clarity + loyalty programme awareness.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4169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200 customers/arm · Frequentist design · 8 weeks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44622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3%) &gt; 0.75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5 of 5  ·  Expected Impact: $370K Annual Profit (Conservative)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10312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$370K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(Conservative Estimate)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804672"/>
            <a:ext cx="21031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6,100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60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per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804672"/>
            <a:ext cx="210312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46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1 @ 100/arm)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804672"/>
            <a:ext cx="1737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0" y="804672"/>
            <a:ext cx="173736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0" y="987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7132320" y="16733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Tests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82296" cy="25146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1 — Early Intervention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8912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15% churn reduction among ≤40-day cohort. Monthly revenue saved: ~$18K. Annual impact: ~$216K. Investment: $75–$125/customer. Net ROI positive within 3 months.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27832" y="2395728"/>
            <a:ext cx="82296" cy="25146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92424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2 — Contract + Add-on Bundle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92424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causal effect: −5.8pp (87% probability). Month-to-month customers (99.9% of base). Annual impact: ~$104K. Long-term stickiness via contract migration.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81344" y="2395728"/>
            <a:ext cx="82296" cy="2514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45936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3 — Targeted Messaging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45936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signal, large addressable segment (31% of base). Low intervention cost. Annual impact: ~$50K. Highest ROI per dollar spent due to minimal cost.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91032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 assume lower bounds of credible intervals. Full Bayesian models available in targeted_bayesian_test_design.md  ·  Phase 2–4 scripts in Phase_3_Experimental_Design/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926</Words>
  <Application>Microsoft Macintosh PowerPoint</Application>
  <PresentationFormat>On-screen Show (16:9)</PresentationFormat>
  <Paragraphs>127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– Path B: Validate Specific Recommendations</dc:title>
  <dc:subject>PptxGenJS Presentation</dc:subject>
  <dc:creator>Ella Ndalla</dc:creator>
  <cp:lastModifiedBy>Ella Ndalla</cp:lastModifiedBy>
  <cp:revision>1</cp:revision>
  <dcterms:created xsi:type="dcterms:W3CDTF">2026-03-05T19:36:51Z</dcterms:created>
  <dcterms:modified xsi:type="dcterms:W3CDTF">2026-03-06T03:52:53Z</dcterms:modified>
</cp:coreProperties>
</file>
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64" r:id="rId3"/>
    <p:sldId id="257" r:id="rId4"/>
    <p:sldId id="265" r:id="rId5"/>
    <p:sldId id="266" r:id="rId6"/>
    <p:sldId id="258" r:id="rId7"/>
    <p:sldId id="267" r:id="rId8"/>
    <p:sldId id="259" r:id="rId9"/>
    <p:sldId id="269" r:id="rId10"/>
    <p:sldId id="270" r:id="rId11"/>
    <p:sldId id="271" r:id="rId12"/>
    <p:sldId id="260" r:id="rId13"/>
    <p:sldId id="273" r:id="rId14"/>
    <p:sldId id="274" r:id="rId15"/>
    <p:sldId id="261" r:id="rId16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8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74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Kaggle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ayesian-dashboard-303092178542.us-central1.run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Causal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Bayesian Inference · Experimental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Ndalla  |  Senior Data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201168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89611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3659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841248"/>
            <a:ext cx="20116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94576" y="921847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</a:rPr>
              <a:t>41.4%</a:t>
            </a:r>
          </a:p>
        </p:txBody>
      </p:sp>
      <p:sp>
        <p:nvSpPr>
          <p:cNvPr id="20" name="Text 18"/>
          <p:cNvSpPr/>
          <p:nvPr/>
        </p:nvSpPr>
        <p:spPr>
          <a:xfrm>
            <a:off x="693115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 xml:space="preserve">Min Churn Rate Among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>Predicted Churners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240280"/>
            <a:ext cx="82296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Senior Citizen · Partner · Dependents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exogenous variables — valid causal 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240280"/>
            <a:ext cx="82296" cy="256032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&amp; Contract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· Contract Type · Payment Method · Monthly Charges · Total Charges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or downstream — require causal treatment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82296" cy="2560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679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Internet · Streaming · Online Security · Device Protection · Tech Support · Online Backup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add-ons are the primary treatment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4114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are churning at a rate that is draining $1.53M in annual revenue (LTV basis: 1,869 churners × $74.44/mo × 11 months). Predictive ML identifies who will churn — but that alone is not enough.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is: which interventions actually reduce churn? And do our instincts about what works hold up under rigorous causal testing?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06240" cy="1097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churn but cannot tell us whether promoting add-ons, changing contracts, or targeting new customers will actually lower it. Correlation ≠ causation.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4920" y="822960"/>
            <a:ext cx="18288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822960"/>
            <a:ext cx="1828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$1.53M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408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2304288"/>
            <a:ext cx="182880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7492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40880" y="2304288"/>
            <a:ext cx="182880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1,869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04088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Churners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3794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385876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to test interventions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predict who churns.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Multi-Phase 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777240"/>
            <a:ext cx="2057400" cy="6400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3580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(PySpark)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H2O </a:t>
            </a:r>
            <a:r>
              <a:rPr lang="en-US" sz="10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Stacked Ensemble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777240"/>
            <a:ext cx="2057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role classification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bias correction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(PyMC)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sampling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0" y="777240"/>
            <a:ext cx="205740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4204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design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sensitivity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170432"/>
          <a:ext cx="3840480" cy="20848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Stacked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96.72%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~90.5%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17043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17043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        Decision Tree         H2O Stacked Ensemble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547872"/>
            <a:ext cx="38404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H2O AutoML — Stacked Ensemble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1650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AUC-ROC  |  Best overall performance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H2O Stacked Ensemble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0E1B39-E5D2-9CE5-FA23-85C8DBCB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777238"/>
            <a:ext cx="4319671" cy="41605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ML Analysis: H2O AutoML Stacked Ensemble — Best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77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PySpark Decision Tree (baseline) → H2O AutoML (production)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Churn Drivers — Ranked by H2O Stacked Ensemble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517904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Tenure ≤ 40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1810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vs 69% churn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9584" y="160934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1579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Month-to-Month contract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vs 6.8% churn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21945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+36pp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2688336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check payment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" y="2980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 vs 17.1% churn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9584" y="27797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+28pp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3273552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3328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optic 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35661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vs 14.5% churn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+27pp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" y="3895344"/>
            <a:ext cx="4297680" cy="877824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" y="39502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Add-on Services (naive): 71.4% vs 71.6% = −0.2%  →  NO EFFECT apparent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paradox is resolved by causal analysis on the next slide.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BEST MODEL: H2O AutoML Stacked Ensemble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74920" y="1389888"/>
            <a:ext cx="1783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96%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507492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(H2O Leaderboard CV)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95160" y="1389888"/>
            <a:ext cx="178308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516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90.5%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699516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(churners caught)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7492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74920" y="2798064"/>
            <a:ext cx="178308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78.4%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507492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flagged churners)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9516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995160" y="2798064"/>
            <a:ext cx="178308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9516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0.474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699516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(max F1)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74920" y="4224528"/>
            <a:ext cx="3794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93792" y="4279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H2O AutoML wins: Stacked Ensemble combines GBM, XGBoost, and GLM base learners via a metalearner — outperforming any single algorithm. SMOTE applied pre-training for class balancing.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Variable Classification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Missing_churn_testingfiles/3_valid_invalid_control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572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77724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57800" y="841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1704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valid confounder if and only if: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Measured BEFORE 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EXOGENOUS — not a customer choice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Common cause of both treatment &amp; outcome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Controls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2487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 · Dependents · Partner · Gender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Remove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34198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(collider) · Contract, Payment Method (other treatments) · Monthly/Total Charges (mediators)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Causal Validation: Resolving the Add-on Paradox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7132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Paradox: Customers who churn leave BEFORE adopting add-ons — creating confounding. Tenure acts as a collider: it is caused by both add-on adoption AND survival. Controlling for it creates spurious correlations (survivorship bias).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246888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add-ons: 71.4% churn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71.6% churn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Effect: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576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DIFFERENCE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(Misleading — due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by tenure)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651760"/>
            <a:ext cx="640080" cy="640080"/>
          </a:xfrm>
          <a:prstGeom prst="rightArrow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719072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21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G-computation + Propensity Weighting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2414016"/>
            <a:ext cx="2651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50208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for: SeniorCitizen,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Dependents, Partner, Gender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145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4015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−5.8%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840480" y="3913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[−8.2%, −3.4%]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206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P(reduces churn by 5%+): 87%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651760"/>
            <a:ext cx="640080" cy="640080"/>
          </a:xfrm>
          <a:prstGeom prst="rightArrow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06640" y="1719072"/>
            <a:ext cx="14630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36499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DO reduce churn after controlling for tenure confounding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 Validation — PyMC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trace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206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9204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Approach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204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using PyMC with MCMC sampling (NUTS sampler)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Confounders: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exogenous demographics: SeniorCitizen, Dependents, Partner, Gender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9204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090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 bundle (Device Protection, Online Security, Tech Support)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Convergence: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867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plots confirm MCMC chain convergence (4 chains, R-hat ≈ 1.0, effective samples &gt; 1,000)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Distributions &amp; Predictive Check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sterior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sterior_predicti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Comparison: Before vs After Correction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aus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Experimental Design: 3 Prioritised Bayesian Tests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ROI  ·  See targeted_bayesian_test_design.md for full specifications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2296" cy="11704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⭐⭐⭐ HIGHEST PRIORITY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— Customers ≤ 40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7556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 (+10pp penalty). Time-sensitive window. 25% of base, 79% churn.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20700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3 arms: Welcome Bundle ($75) · Concierge Onboarding ($50) · Smart Start Package ($125)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572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100 customers/arm · 95% Bayesian power · 6–8 weeks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4920" y="186537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8pp) &gt; 0.95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82296" cy="11704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487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 UNIVERSAL APPLICABILITY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+ Add-on Bundle — Month-to-Month 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30540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base are month-to-month. Validated add-on effect (−5.8% causal). Contract migration reduces churn by ~30pp.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50545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2×2 factorial: Contract upgrade × Add-on bundle. 4 arms.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2871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150 customers/arm · 95% Bayesian power · 12 weeks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31638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8pp) &gt; 0.95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94176"/>
            <a:ext cx="82296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785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LOWER COST, MODEST EFFECT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Messaging — Senior Citizens &amp; No-Dependents Segment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" y="43525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signals (+1.3pp, +1.8pp) but large segment (31%). Low intervention cost.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380390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Personalised value messaging: bill clarity + loyalty programme awareness.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4169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200 customers/arm · Bayesian design · 8 weeks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4462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8pp) &gt; 0.95 (segment baseline: ~55%)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Power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we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0060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Design: 2×2×2 Factorial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binary factors creating 8 treatment arms: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591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A: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53328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 bundle (on / off)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214884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B: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support outreach (on / off)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74320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C: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53328" y="27797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timing (≤40 days / later)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39319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060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00600" y="3566160"/>
            <a:ext cx="18288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7375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7375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Customers/Arm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766560" y="3566160"/>
            <a:ext cx="182880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3971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83971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Power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Size Sensitivity &amp; Power Comparison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sample_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w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Expected Impact: $350K Annual Profit (Conservative)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10312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~$350K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 Estimate)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804672"/>
            <a:ext cx="21031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6,100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per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804672"/>
            <a:ext cx="210312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1 @ 100/arm)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804672"/>
            <a:ext cx="1737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0" y="804672"/>
            <a:ext cx="173736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987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132320" y="1673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82296" cy="25146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 — Early Intervention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15% churn reduction among ≤40-day cohort. Monthly revenue saved: ~$17K. Annual impact: ~$204K. Investment: $75–$125/customer. Net ROI positive within 3 months.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2395728"/>
            <a:ext cx="82296" cy="25146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 — Contract + Add-on Bundle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92424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causal effect: −5.8pp (87% probability). Month-to-month customers (99.9% of base). Annual impact: ~$98K. Long-term stickiness via contract migration.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2395728"/>
            <a:ext cx="82296" cy="2514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45936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 — Targeted Messaging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5936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signal, large addressable segment (31% of base). Low intervention cost. Annual impact: ~$47K. Highest ROI per dollar spent due to minimal cost.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assume lower bounds of credible intervals. Full Bayesian models available in targeted_bayesian_test_design.md  ·  Phase 2–4 scripts in Phase_3_Experimental_Design/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h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rangeLine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Txt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 xml:space="preserve">  Phase 4: Bayesian Monitoring — Experiment Results</a:t>
            </a:r>
          </a:p>
        </p:txBody>
      </p:sp>
      <p:sp>
        <p:nvSpPr>
          <p:cNvPr id="5" name="C1Bg"/>
          <p:cNvSpPr/>
          <p:nvPr/>
        </p:nvSpPr>
        <p:spPr>
          <a:xfrm>
            <a:off x="274320" y="804672"/>
            <a:ext cx="2057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1Bar"/>
          <p:cNvSpPr/>
          <p:nvPr/>
        </p:nvSpPr>
        <p:spPr>
          <a:xfrm>
            <a:off x="274320" y="804672"/>
            <a:ext cx="20574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1Val"/>
          <p:cNvSpPr/>
          <p:nvPr/>
        </p:nvSpPr>
        <p:spPr>
          <a:xfrm>
            <a:off x="274320" y="9875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A4A"/>
                </a:solidFill>
                <a:latin typeface="Trebuchet MS" pitchFamily="34" charset="0"/>
              </a:rPr>
              <a:t>99%</a:t>
            </a:r>
          </a:p>
        </p:txBody>
      </p:sp>
      <p:sp>
        <p:nvSpPr>
          <p:cNvPr id="8" name="C1Lbl"/>
          <p:cNvSpPr/>
          <p:nvPr/>
        </p:nvSpPr>
        <p:spPr>
          <a:xfrm>
            <a:off x="274320" y="163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Confidence Level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(T2 is winner)</a:t>
            </a:r>
          </a:p>
        </p:txBody>
      </p:sp>
      <p:sp>
        <p:nvSpPr>
          <p:cNvPr id="9" name="C2Bg"/>
          <p:cNvSpPr/>
          <p:nvPr/>
        </p:nvSpPr>
        <p:spPr>
          <a:xfrm>
            <a:off x="2560320" y="804672"/>
            <a:ext cx="2057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C2Bar"/>
          <p:cNvSpPr/>
          <p:nvPr/>
        </p:nvSpPr>
        <p:spPr>
          <a:xfrm>
            <a:off x="2560320" y="804672"/>
            <a:ext cx="20574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2Val"/>
          <p:cNvSpPr/>
          <p:nvPr/>
        </p:nvSpPr>
        <p:spPr>
          <a:xfrm>
            <a:off x="2560320" y="9875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  <a:latin typeface="Trebuchet MS" pitchFamily="34" charset="0"/>
              </a:rPr>
              <a:t>+18.8pp</a:t>
            </a:r>
          </a:p>
        </p:txBody>
      </p:sp>
      <p:sp>
        <p:nvSpPr>
          <p:cNvPr id="12" name="C2Lbl"/>
          <p:cNvSpPr/>
          <p:nvPr/>
        </p:nvSpPr>
        <p:spPr>
          <a:xfrm>
            <a:off x="2560320" y="163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Churn Reduction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(Expected effect)</a:t>
            </a:r>
          </a:p>
        </p:txBody>
      </p:sp>
      <p:sp>
        <p:nvSpPr>
          <p:cNvPr id="13" name="C3Bg"/>
          <p:cNvSpPr/>
          <p:nvPr/>
        </p:nvSpPr>
        <p:spPr>
          <a:xfrm>
            <a:off x="4846320" y="804672"/>
            <a:ext cx="2057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C3Bar"/>
          <p:cNvSpPr/>
          <p:nvPr/>
        </p:nvSpPr>
        <p:spPr>
          <a:xfrm>
            <a:off x="4846320" y="804672"/>
            <a:ext cx="205740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3Val"/>
          <p:cNvSpPr/>
          <p:nvPr/>
        </p:nvSpPr>
        <p:spPr>
          <a:xfrm>
            <a:off x="4846320" y="9875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</a:rPr>
              <a:t>$82K</a:t>
            </a:r>
          </a:p>
        </p:txBody>
      </p:sp>
      <p:sp>
        <p:nvSpPr>
          <p:cNvPr id="16" name="C3Lbl"/>
          <p:cNvSpPr/>
          <p:nvPr/>
        </p:nvSpPr>
        <p:spPr>
          <a:xfrm>
            <a:off x="4846320" y="163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Annual Profit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(700% ROI)</a:t>
            </a:r>
          </a:p>
        </p:txBody>
      </p:sp>
      <p:sp>
        <p:nvSpPr>
          <p:cNvPr id="17" name="C4Bg"/>
          <p:cNvSpPr/>
          <p:nvPr/>
        </p:nvSpPr>
        <p:spPr>
          <a:xfrm>
            <a:off x="7132320" y="804672"/>
            <a:ext cx="1737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C4Bar"/>
          <p:cNvSpPr/>
          <p:nvPr/>
        </p:nvSpPr>
        <p:spPr>
          <a:xfrm>
            <a:off x="7132320" y="804672"/>
            <a:ext cx="173736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4Val"/>
          <p:cNvSpPr/>
          <p:nvPr/>
        </p:nvSpPr>
        <p:spPr>
          <a:xfrm>
            <a:off x="7132320" y="9875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</a:rPr>
              <a:t>1.7mo</a:t>
            </a:r>
          </a:p>
        </p:txBody>
      </p:sp>
      <p:sp>
        <p:nvSpPr>
          <p:cNvPr id="20" name="C4Lbl"/>
          <p:cNvSpPr/>
          <p:nvPr/>
        </p:nvSpPr>
        <p:spPr>
          <a:xfrm>
            <a:off x="7132320" y="163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Payback Period</a:t>
            </a:r>
          </a:p>
        </p:txBody>
      </p:sp>
      <p:sp>
        <p:nvSpPr>
          <p:cNvPr id="21" name="P1Bg"/>
          <p:cNvSpPr/>
          <p:nvPr/>
        </p:nvSpPr>
        <p:spPr>
          <a:xfrm>
            <a:off x="274320" y="2258568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P1Acc"/>
          <p:cNvSpPr/>
          <p:nvPr/>
        </p:nvSpPr>
        <p:spPr>
          <a:xfrm>
            <a:off x="274320" y="2258568"/>
            <a:ext cx="82296" cy="2651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1Ttl"/>
          <p:cNvSpPr/>
          <p:nvPr/>
        </p:nvSpPr>
        <p:spPr>
          <a:xfrm>
            <a:off x="438912" y="23498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Methodology</a:t>
            </a:r>
          </a:p>
        </p:txBody>
      </p:sp>
      <p:sp>
        <p:nvSpPr>
          <p:cNvPr id="24" name="P1Txt"/>
          <p:cNvSpPr/>
          <p:nvPr/>
        </p:nvSpPr>
        <p:spPr>
          <a:xfrm>
            <a:off x="438912" y="2642472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Bayesian sequential testing with automated stopping rules. Superiority threshold: P(&gt;8pp reduction) &gt; 95%. Futility threshold: P &lt; 5%. ROPE: ±2pp equivalence region. PyMC MCMC, 4 chains. R-hat ≈ 1.0 confirms convergence across all arms.</a:t>
            </a:r>
          </a:p>
        </p:txBody>
      </p:sp>
      <p:sp>
        <p:nvSpPr>
          <p:cNvPr id="25" name="P2Bg"/>
          <p:cNvSpPr/>
          <p:nvPr/>
        </p:nvSpPr>
        <p:spPr>
          <a:xfrm>
            <a:off x="3227832" y="2258568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P2Acc"/>
          <p:cNvSpPr/>
          <p:nvPr/>
        </p:nvSpPr>
        <p:spPr>
          <a:xfrm>
            <a:off x="3227832" y="2258568"/>
            <a:ext cx="82296" cy="2651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2Ttl"/>
          <p:cNvSpPr/>
          <p:nvPr/>
        </p:nvSpPr>
        <p:spPr>
          <a:xfrm>
            <a:off x="3392424" y="23498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Week 6 Results</a:t>
            </a:r>
          </a:p>
        </p:txBody>
      </p:sp>
      <p:sp>
        <p:nvSpPr>
          <p:cNvPr id="28" name="P2Txt"/>
          <p:cNvSpPr/>
          <p:nvPr/>
        </p:nvSpPr>
        <p:spPr>
          <a:xfrm>
            <a:off x="3392424" y="2642472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1,200 customers enrolled (300/arm). Segment baseline: 74.7% (0–6 month cohort, observed). Treatment 2 churn: 56%. Superiority detected at Week 6. Experiment stopped early. 95% CI: [11.0%, 26.5%]. All 3 arms beat control.</a:t>
            </a:r>
          </a:p>
        </p:txBody>
      </p:sp>
      <p:sp>
        <p:nvSpPr>
          <p:cNvPr id="29" name="P3Bg"/>
          <p:cNvSpPr/>
          <p:nvPr/>
        </p:nvSpPr>
        <p:spPr>
          <a:xfrm>
            <a:off x="6181344" y="2258568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3Acc"/>
          <p:cNvSpPr/>
          <p:nvPr/>
        </p:nvSpPr>
        <p:spPr>
          <a:xfrm>
            <a:off x="6181344" y="2258568"/>
            <a:ext cx="82296" cy="26517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3Ttl"/>
          <p:cNvSpPr/>
          <p:nvPr/>
        </p:nvSpPr>
        <p:spPr>
          <a:xfrm>
            <a:off x="6345936" y="23498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Next Steps</a:t>
            </a:r>
          </a:p>
        </p:txBody>
      </p:sp>
      <p:sp>
        <p:nvSpPr>
          <p:cNvPr id="32" name="P3Txt"/>
          <p:cNvSpPr/>
          <p:nvPr/>
        </p:nvSpPr>
        <p:spPr>
          <a:xfrm>
            <a:off x="6345936" y="2642472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Deploy T2 (Smart Start $125) for all new customers. Monitor 90 days post-launch. Scale to existing customer base if results hold. Full automation via Bayesian dashboard in Phase 5.</a:t>
            </a:r>
          </a:p>
        </p:txBody>
      </p:sp>
      <p:sp>
        <p:nvSpPr>
          <p:cNvPr id="33" name="FootBg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FootTxt"/>
          <p:cNvSpPr/>
          <p:nvPr/>
        </p:nvSpPr>
        <p:spPr>
          <a:xfrm>
            <a:off x="41148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2D42"/>
                </a:solidFill>
                <a:latin typeface="Calibri" pitchFamily="34" charset="0"/>
              </a:rPr>
              <a:t>Monitoring scripts in Phase_4_implementation_and_Monitoring/  ·  Visualisations: posterior_plots.png, trace_plots.png, executive_dashboard_week_6.png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h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rangeLine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Txt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 xml:space="preserve">  Phase 5: Cloud Deployment — Live Bayesian Dashboard</a:t>
            </a:r>
          </a:p>
        </p:txBody>
      </p:sp>
      <p:sp>
        <p:nvSpPr>
          <p:cNvPr id="5" name="DemoBg"/>
          <p:cNvSpPr/>
          <p:nvPr/>
        </p:nvSpPr>
        <p:spPr>
          <a:xfrm>
            <a:off x="1143000" y="804672"/>
            <a:ext cx="685800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E85D0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DemoLabel"/>
          <p:cNvSpPr/>
          <p:nvPr/>
        </p:nvSpPr>
        <p:spPr>
          <a:xfrm>
            <a:off x="1143000" y="8586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</a:rPr>
              <a:t>💻  LIVE DEMO</a:t>
            </a:r>
          </a:p>
        </p:txBody>
      </p:sp>
      <p:sp>
        <p:nvSpPr>
          <p:cNvPr id="7" name="DemoLink"/>
          <p:cNvSpPr/>
          <p:nvPr/>
        </p:nvSpPr>
        <p:spPr>
          <a:xfrm>
            <a:off x="1143000" y="1242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hlinkClick r:id="rId2"/>
              </a:rPr>
              <a:t>bayesian-dashboard-303092178542.us-central1.run.app</a:t>
            </a:r>
          </a:p>
        </p:txBody>
      </p:sp>
      <p:sp>
        <p:nvSpPr>
          <p:cNvPr id="8" name="F1Bg"/>
          <p:cNvSpPr/>
          <p:nvPr/>
        </p:nvSpPr>
        <p:spPr>
          <a:xfrm>
            <a:off x="274320" y="2349864"/>
            <a:ext cx="2834640" cy="246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F1Acc"/>
          <p:cNvSpPr/>
          <p:nvPr/>
        </p:nvSpPr>
        <p:spPr>
          <a:xfrm>
            <a:off x="274320" y="2349864"/>
            <a:ext cx="82296" cy="24693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1Ttl"/>
          <p:cNvSpPr/>
          <p:nvPr/>
        </p:nvSpPr>
        <p:spPr>
          <a:xfrm>
            <a:off x="438912" y="24413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Cloud Infrastructure</a:t>
            </a:r>
          </a:p>
        </p:txBody>
      </p:sp>
      <p:sp>
        <p:nvSpPr>
          <p:cNvPr id="11" name="F1Txt"/>
          <p:cNvSpPr/>
          <p:nvPr/>
        </p:nvSpPr>
        <p:spPr>
          <a:xfrm>
            <a:off x="438912" y="2734008"/>
            <a:ext cx="2596896" cy="19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Deployed on Google Cloud Run (GCP). Containerised via Docker. Auto-scaling serverless architecture. Zero-downtime updates. Procfile + requirements.txt for reproducibility.</a:t>
            </a:r>
          </a:p>
        </p:txBody>
      </p:sp>
      <p:sp>
        <p:nvSpPr>
          <p:cNvPr id="12" name="F2Bg"/>
          <p:cNvSpPr/>
          <p:nvPr/>
        </p:nvSpPr>
        <p:spPr>
          <a:xfrm>
            <a:off x="3227832" y="2349864"/>
            <a:ext cx="2834640" cy="246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F2Acc"/>
          <p:cNvSpPr/>
          <p:nvPr/>
        </p:nvSpPr>
        <p:spPr>
          <a:xfrm>
            <a:off x="3227832" y="2349864"/>
            <a:ext cx="82296" cy="24693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2Ttl"/>
          <p:cNvSpPr/>
          <p:nvPr/>
        </p:nvSpPr>
        <p:spPr>
          <a:xfrm>
            <a:off x="3392424" y="24413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Dashboard Features</a:t>
            </a:r>
          </a:p>
        </p:txBody>
      </p:sp>
      <p:sp>
        <p:nvSpPr>
          <p:cNvPr id="15" name="F2Txt"/>
          <p:cNvSpPr/>
          <p:nvPr/>
        </p:nvSpPr>
        <p:spPr>
          <a:xfrm>
            <a:off x="3392424" y="2734008"/>
            <a:ext cx="2596896" cy="19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Real-time churn predictions. Live Bayesian experiment monitoring. Posterior distribution charts. Automated decision memos. Weekly executive summaries. Streamlit-powered UI.</a:t>
            </a:r>
          </a:p>
        </p:txBody>
      </p:sp>
      <p:sp>
        <p:nvSpPr>
          <p:cNvPr id="16" name="F3Bg"/>
          <p:cNvSpPr/>
          <p:nvPr/>
        </p:nvSpPr>
        <p:spPr>
          <a:xfrm>
            <a:off x="6181344" y="2349864"/>
            <a:ext cx="2834640" cy="246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F3Acc"/>
          <p:cNvSpPr/>
          <p:nvPr/>
        </p:nvSpPr>
        <p:spPr>
          <a:xfrm>
            <a:off x="6181344" y="2349864"/>
            <a:ext cx="82296" cy="246938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3Ttl"/>
          <p:cNvSpPr/>
          <p:nvPr/>
        </p:nvSpPr>
        <p:spPr>
          <a:xfrm>
            <a:off x="6345936" y="24413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</a:rPr>
              <a:t>Portfolio Summary</a:t>
            </a:r>
          </a:p>
        </p:txBody>
      </p:sp>
      <p:sp>
        <p:nvSpPr>
          <p:cNvPr id="19" name="F3Txt"/>
          <p:cNvSpPr/>
          <p:nvPr/>
        </p:nvSpPr>
        <p:spPr>
          <a:xfrm>
            <a:off x="6345936" y="2734008"/>
            <a:ext cx="2596896" cy="19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</a:rPr>
              <a:t>Phase 1: ML Analysis (H2O AutoML, 93.4% AUC). Phase 2: Causal Inference (PyMC). Phase 3: Experiment Design. Phase 4: Bayesian Monitoring. Phase 5: GCP Deployment.</a:t>
            </a:r>
          </a:p>
        </p:txBody>
      </p:sp>
      <p:sp>
        <p:nvSpPr>
          <p:cNvPr id="20" name="FootBg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ootTxt"/>
          <p:cNvSpPr/>
          <p:nvPr/>
        </p:nvSpPr>
        <p:spPr>
          <a:xfrm>
            <a:off x="41148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2D42"/>
                </a:solidFill>
                <a:latin typeface="Calibri" pitchFamily="34" charset="0"/>
              </a:rPr>
              <a:t>Deployment scripts in Phase_5_Deployment_guide/  ·  Dockerfile + Cloud Run config  ·  Demo: https://bayesian-dashboard-303092178542.us-central1.run.app/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1360</Words>
  <Application>Microsoft Macintosh PowerPoint</Application>
  <PresentationFormat>On-screen Show (16:9)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– Path B: Validate Specific Recommendations</dc:title>
  <dc:subject>PptxGenJS Presentation</dc:subject>
  <dc:creator>Ella Ndalla</dc:creator>
  <cp:lastModifiedBy>Ella Ndalla</cp:lastModifiedBy>
  <cp:revision>4</cp:revision>
  <dcterms:created xsi:type="dcterms:W3CDTF">2026-03-05T19:36:51Z</dcterms:created>
  <dcterms:modified xsi:type="dcterms:W3CDTF">2026-03-06T08:28:40Z</dcterms:modified>
</cp:coreProperties>
</file>
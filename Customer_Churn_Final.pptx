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5" r:id="rId2"/>
    <p:sldId id="264" r:id="rId3"/>
    <p:sldId id="257" r:id="rId4"/>
    <p:sldId id="265" r:id="rId5"/>
    <p:sldId id="266" r:id="rId6"/>
    <p:sldId id="258" r:id="rId7"/>
    <p:sldId id="267" r:id="rId8"/>
    <p:sldId id="259" r:id="rId9"/>
    <p:sldId id="269" r:id="rId10"/>
    <p:sldId id="270" r:id="rId11"/>
    <p:sldId id="271" r:id="rId12"/>
    <p:sldId id="260" r:id="rId13"/>
    <p:sldId id="273" r:id="rId14"/>
    <p:sldId id="274" r:id="rId15"/>
    <p:sldId id="261" r:id="rId16"/>
    <p:sldId id="276" r:id="rId17"/>
    <p:sldId id="277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7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3746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Kaggle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bayesian-dashboard-303092178542.us-central1.run.app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01168" cy="51435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 Churn Prediction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Causal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· Bayesian Inference · Experimental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Ndalla  |  Data Scientist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Customer Retention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Overview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41248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41248"/>
            <a:ext cx="201168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7472" y="978408"/>
            <a:ext cx="186537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7,043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47472" y="1554480"/>
            <a:ext cx="186537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in Dataset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841248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68880" y="841248"/>
            <a:ext cx="2011680" cy="73152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42032" y="978408"/>
            <a:ext cx="186537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542032" y="1554480"/>
            <a:ext cx="186537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per Customer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0016" y="896112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841248"/>
            <a:ext cx="2011680" cy="7315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36592" y="978408"/>
            <a:ext cx="186537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26.5%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36592" y="1554480"/>
            <a:ext cx="186537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Churn Rate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0" y="841248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58000" y="841248"/>
            <a:ext cx="20116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94576" y="921847"/>
            <a:ext cx="186537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</a:rPr>
              <a:t>41.4%</a:t>
            </a:r>
          </a:p>
        </p:txBody>
      </p:sp>
      <p:sp>
        <p:nvSpPr>
          <p:cNvPr id="20" name="Text 18"/>
          <p:cNvSpPr/>
          <p:nvPr/>
        </p:nvSpPr>
        <p:spPr>
          <a:xfrm>
            <a:off x="6931152" y="1554480"/>
            <a:ext cx="186537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cs typeface="Calibri" pitchFamily="34" charset="-120"/>
              </a:rPr>
              <a:t>Min Churn Rate Among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cs typeface="Calibri" pitchFamily="34" charset="-120"/>
              </a:rPr>
              <a:t>Predicted Churners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2240280"/>
            <a:ext cx="2697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240280"/>
            <a:ext cx="82296" cy="2560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8912" y="2350008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Demographics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8912" y="2642616"/>
            <a:ext cx="245973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· Senior Citizen · Partner · Dependents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Pre-treatment exogenous variables — valid causal controls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46120" y="2240280"/>
            <a:ext cx="2697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46120" y="2240280"/>
            <a:ext cx="82296" cy="2560320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10712" y="2350008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 &amp; Contract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10712" y="2642616"/>
            <a:ext cx="245973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· Contract Type · Payment Method · Monthly Charges · Total Charges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 or downstream — require causal treatment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2240280"/>
            <a:ext cx="2697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172200" y="2240280"/>
            <a:ext cx="82296" cy="25603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36792" y="2350008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36792" y="2642616"/>
            <a:ext cx="245973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· Internet · Streaming · Online Security · Device Protection · Tech Support · Online Backup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add-ons are the primary treatment variable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The Problem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5720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2296" cy="4114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89611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Business Challenge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customers are churning at a rate that is draining $1.53M in annual revenue (LTV basis: 1,869 churners × $74.44/mo × 11 months). Predictive ML identifies who will churn — but that alone is not enough.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is: which interventions actually reduce churn? And do our instincts about what works hold up under rigorous causal testing?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206240" cy="1097280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8163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09067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predict churn but cannot tell us whether promoting add-ons, changing contracts, or targeting new customers will actually lower it. Correlation ≠ causation.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74920" y="822960"/>
            <a:ext cx="18288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74920" y="822960"/>
            <a:ext cx="18288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74920" y="10058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26.5%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74920" y="1691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Churn Rate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040880" y="822960"/>
            <a:ext cx="18288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040880" y="822960"/>
            <a:ext cx="18288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40880" y="10058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$1.53M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040880" y="1691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 at Risk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74920" y="2304288"/>
            <a:ext cx="18288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074920" y="2304288"/>
            <a:ext cx="1828800" cy="54864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74920" y="248716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7,043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5074920" y="3172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Analysed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040880" y="2304288"/>
            <a:ext cx="18288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040880" y="2304288"/>
            <a:ext cx="1828800" cy="54864"/>
          </a:xfrm>
          <a:prstGeom prst="rect">
            <a:avLst/>
          </a:prstGeom>
          <a:solidFill>
            <a:srgbClr val="2B2D42"/>
          </a:solidFill>
          <a:ln w="12700">
            <a:solidFill>
              <a:srgbClr val="2B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040880" y="248716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B2D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1,869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7040880" y="3172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Churners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74920" y="3785616"/>
            <a:ext cx="37947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212080" y="3858768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need to test interventions —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just predict who churns.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Multi-Phase Technical Approach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574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057400" cy="6400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32688" y="82296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&amp; SQL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9751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 imputation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4140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removal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8529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377440" y="777240"/>
            <a:ext cx="20574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377440" y="777240"/>
            <a:ext cx="2057400" cy="640080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68880" y="8046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035808" y="82296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Modeling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14600" y="15361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(PySpark)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514600" y="19751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 </a:t>
            </a:r>
            <a:r>
              <a:rPr lang="en-US" sz="1050" dirty="0" err="1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</a:t>
            </a: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Stacked Ensemble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80560" y="777240"/>
            <a:ext cx="20574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80560" y="777240"/>
            <a:ext cx="20574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0" y="8046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38928" y="82296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Causal Inference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17720" y="15361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role classification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17720" y="19751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bias correction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17720" y="24140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regression (PyMC)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17720" y="28529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MCMC sampling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0" y="777240"/>
            <a:ext cx="20574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83680" y="777240"/>
            <a:ext cx="2057400" cy="6400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0" y="8046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42048" y="82296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 Design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0840" y="15361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2×2×2 factorial design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19751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analysis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720840" y="24140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sensitivity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720840" y="28529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Week-by-week monitoring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Performance Comparison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 Comparison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040940"/>
              </p:ext>
            </p:extLst>
          </p:nvPr>
        </p:nvGraphicFramePr>
        <p:xfrm>
          <a:off x="365760" y="1170432"/>
          <a:ext cx="3840480" cy="208483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H2O Stacked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96.72%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93.4%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~90.5%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1170432"/>
            <a:ext cx="384048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84048" y="1170432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         Decision Tree         H2O Stacked Ensemble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3547872"/>
            <a:ext cx="3840480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02920" y="36027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Model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3858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H2O AutoML — Stacked Ensemble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41650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 AUC-ROC  |  Best overall performance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663440" y="777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 Curve — H2O Stacked Ensemble</a:t>
            </a:r>
            <a:endParaRPr lang="en-US" sz="11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20E1B39-E5D2-9CE5-FA23-85C8DBCB5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1" y="777238"/>
            <a:ext cx="4319671" cy="41605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ML Analysis: H2O AutoML Stacked Ensemble — Best Model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5720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87782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PySpark Decision Tree (baseline) → H2O AutoML (production)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38912" y="1170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Churn Drivers — Ranked by H2O Stacked Ensemble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4297680" cy="493776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7472" y="1517904"/>
            <a:ext cx="438912" cy="49377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7472" y="1517904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59536" y="15727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Tenure ≤ 40 days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181051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vs 69% churn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29584" y="160934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+10pp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103120"/>
            <a:ext cx="4297680" cy="493776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7472" y="2103120"/>
            <a:ext cx="438912" cy="493776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7472" y="2103120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9536" y="21579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Month-to-Month contract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239572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42.7% vs 6.8% churn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529584" y="219456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+36pp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2688336"/>
            <a:ext cx="4297680" cy="493776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47472" y="2688336"/>
            <a:ext cx="438912" cy="493776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7472" y="2688336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9536" y="2743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Electronic check payment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9536" y="298094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45.3% vs 17.1% churn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29584" y="2779776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+28pp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47472" y="3273552"/>
            <a:ext cx="4297680" cy="493776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47472" y="3273552"/>
            <a:ext cx="438912" cy="4937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3273552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9536" y="33284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optic service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59536" y="356616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41.9% vs 14.5% churn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D73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+27pp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47472" y="3895344"/>
            <a:ext cx="4297680" cy="877824"/>
          </a:xfrm>
          <a:prstGeom prst="rect">
            <a:avLst/>
          </a:prstGeom>
          <a:solidFill>
            <a:srgbClr val="FFF3CD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3776" y="395020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Add-on Services (naive): 71.4% vs 71.6% = −0.2%  →  NO EFFECT apparent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paradox is resolved by causal analysis on the next slide.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74920" y="822960"/>
            <a:ext cx="3794760" cy="4572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74920" y="8229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★  BEST MODEL: H2O AutoML Stacked Ensemble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74920" y="1389888"/>
            <a:ext cx="178308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074920" y="1389888"/>
            <a:ext cx="178308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74920" y="15727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73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96%</a:t>
            </a:r>
            <a:endParaRPr lang="en-US" sz="3800" dirty="0"/>
          </a:p>
        </p:txBody>
      </p:sp>
      <p:sp>
        <p:nvSpPr>
          <p:cNvPr id="39" name="Text 37"/>
          <p:cNvSpPr/>
          <p:nvPr/>
        </p:nvSpPr>
        <p:spPr>
          <a:xfrm>
            <a:off x="5074920" y="22585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(H2O Leaderboard CV)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95160" y="1389888"/>
            <a:ext cx="178308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995160" y="1389888"/>
            <a:ext cx="178308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995160" y="15727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90.5%</a:t>
            </a:r>
            <a:endParaRPr lang="en-US" sz="3800" dirty="0"/>
          </a:p>
        </p:txBody>
      </p:sp>
      <p:sp>
        <p:nvSpPr>
          <p:cNvPr id="43" name="Text 41"/>
          <p:cNvSpPr/>
          <p:nvPr/>
        </p:nvSpPr>
        <p:spPr>
          <a:xfrm>
            <a:off x="6995160" y="22585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(churners caught)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074920" y="2798064"/>
            <a:ext cx="178308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074920" y="2798064"/>
            <a:ext cx="1783080" cy="54864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074920" y="298094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78.4%</a:t>
            </a:r>
            <a:endParaRPr lang="en-US" sz="3800" dirty="0"/>
          </a:p>
        </p:txBody>
      </p:sp>
      <p:sp>
        <p:nvSpPr>
          <p:cNvPr id="47" name="Text 45"/>
          <p:cNvSpPr/>
          <p:nvPr/>
        </p:nvSpPr>
        <p:spPr>
          <a:xfrm>
            <a:off x="5074920" y="366674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(of flagged churners)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995160" y="2798064"/>
            <a:ext cx="178308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995160" y="2798064"/>
            <a:ext cx="1783080" cy="54864"/>
          </a:xfrm>
          <a:prstGeom prst="rect">
            <a:avLst/>
          </a:prstGeom>
          <a:solidFill>
            <a:srgbClr val="2B2D42"/>
          </a:solidFill>
          <a:ln w="12700">
            <a:solidFill>
              <a:srgbClr val="2B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995160" y="298094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B2D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0.474</a:t>
            </a:r>
            <a:endParaRPr lang="en-US" sz="3800" dirty="0"/>
          </a:p>
        </p:txBody>
      </p:sp>
      <p:sp>
        <p:nvSpPr>
          <p:cNvPr id="51" name="Text 49"/>
          <p:cNvSpPr/>
          <p:nvPr/>
        </p:nvSpPr>
        <p:spPr>
          <a:xfrm>
            <a:off x="6995160" y="366674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(max F1)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074920" y="4224528"/>
            <a:ext cx="3794760" cy="6583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193792" y="42793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H2O AutoML wins: Stacked Ensemble combines GBM, XGBoost, and GLM base learners via a metalearner — outperforming any single algorithm. SMOTE applied pre-training for class balancing.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Causal Variable Classification</a:t>
            </a:r>
            <a:endParaRPr lang="en-US" sz="2200" dirty="0"/>
          </a:p>
        </p:txBody>
      </p:sp>
      <p:pic>
        <p:nvPicPr>
          <p:cNvPr id="5" name="Image 0" descr="/sessions/nifty-festive-knuth/mnt/Customer_Churn_Analysis/Missing_churn_testingfiles/3_valid_invalid_control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5720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120640" y="777240"/>
            <a:ext cx="37490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257800" y="8412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Rule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57800" y="1170432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is a valid confounder if and only if: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Measured BEFORE treatment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EXOGENOUS — not a customer choice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Common cause of both treatment &amp; outcome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66360" y="2176272"/>
            <a:ext cx="173736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166360" y="21762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Controls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257800" y="24871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SeniorCitizen · Dependents · Partner · Gender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166360" y="3108960"/>
            <a:ext cx="1737360" cy="25603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166360" y="3108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— Remove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257800" y="341985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(collider) · Contract, Payment Method (other treatments) · Monthly/Total Charges (mediators)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Causal Validation: Resolving the Add-on Paradox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2296" cy="71323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87782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Paradox: Customers who churn leave BEFORE adopting add-ons — creating confounding. Tenure acts as a collider: it is caused by both add-on adoption AND survival. Controlling for it creates spurious correlations (survivorship bias).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719072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265176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NAIVE COMPARISON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1214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Correlation, not Causation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414016"/>
            <a:ext cx="2468880" cy="6583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" y="2468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add-ons: 71.4% churn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Without: 71.6% churn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31455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Effect: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4015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−0.2%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65760" y="39136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DIFFERENCE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4206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(Misleading — due to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confounding by tenure)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17520" y="2651760"/>
            <a:ext cx="640080" cy="640080"/>
          </a:xfrm>
          <a:prstGeom prst="rightArrow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49040" y="1719072"/>
            <a:ext cx="28346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749040" y="1719072"/>
            <a:ext cx="2834640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749040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BAYESIAN CAUSAL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21214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G-computation + Propensity Weighting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2414016"/>
            <a:ext cx="2651760" cy="6583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950208" y="2468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for: SeniorCitizen,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Dependents, Partner, Gender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0" y="314553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Effect: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840480" y="34015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7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−5.8%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3840480" y="3913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CI: [−8.2%, −3.4%]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0" y="4206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P(reduces churn by 5%+): 87%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75120" y="2651760"/>
            <a:ext cx="640080" cy="640080"/>
          </a:xfrm>
          <a:prstGeom prst="rightArrow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406640" y="1719072"/>
            <a:ext cx="1463040" cy="3200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406640" y="23774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06640" y="3364992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 DO reduce churn after controlling for tenure confounding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Bayesian Causal Validation — PyMC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trace_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2062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54880" y="777240"/>
            <a:ext cx="41148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892040" y="841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Bayesian Approach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92040" y="1261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Model: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892040" y="153619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logistic regression using PyMC with MCMC sampling (NUTS sampler)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892040" y="2039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Confounders: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892040" y="231343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exogenous demographics: SeniorCitizen, Dependents, Partner, Gender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892040" y="28163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892040" y="30906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add-on bundle (Device Protection, Online Security, Tech Support)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892040" y="35935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Convergence: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92040" y="38679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plots confirm MCMC chain convergence (4 chains, R-hat ≈ 1.0, effective samples &gt; 1,000)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Posterior Distributions &amp; Predictive Check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posterior_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114800" cy="4114800"/>
          </a:xfrm>
          <a:prstGeom prst="rect">
            <a:avLst/>
          </a:prstGeom>
        </p:spPr>
      </p:pic>
      <p:pic>
        <p:nvPicPr>
          <p:cNvPr id="6" name="Image 1" descr="/sessions/nifty-festive-knuth/mnt/Customer_Churn_Analysis/venv/Results/visualizations/posterior_predictive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77724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Causal Comparison: Before vs After Correction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caus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Experimental Design: 3 Prioritised Bayesian Tests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6809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by ROI  ·  See targeted_bayesian_test_design.md for full specifications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82296" cy="117043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20624" y="1170432"/>
            <a:ext cx="804672" cy="25603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0624" y="1170432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0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 HIGHEST PRIORITY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4630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Early Intervention — Customers ≤ 40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0624" y="17556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signal (+10pp penalty). Time-sensitive window. 25% of base, 79% churn.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74920" y="1207008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3 arms: Welcome Bundle ($75) · Concierge Onboarding ($50) · Smart Start Package ($125)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74920" y="1572768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100 customers/arm · 95% Bayesian power · 6–8 weeks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74920" y="186537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P(churn reduction &gt; 8pp) &gt; 0.95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395728"/>
            <a:ext cx="8595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395728"/>
            <a:ext cx="82296" cy="1170432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0624" y="2468880"/>
            <a:ext cx="804672" cy="256032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0624" y="246888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280160" y="24871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 UNIVERSAL APPLICABILITY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20624" y="2761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 + Add-on Bundle — Month-to-Month Customers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20624" y="3054096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 of base are month-to-month. Validated add-on effect (−5.8% causal). Contract migration reduces churn by ~30pp.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74920" y="2505456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2×2 factorial: Contract upgrade × Add-on bundle. 4 arms.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074920" y="287121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150 customers/arm · 95% Bayesian power · 12 weeks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74920" y="3163824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P(churn reduction &gt; 8pp) &gt; 0.95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" y="3694176"/>
            <a:ext cx="8595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3694176"/>
            <a:ext cx="82296" cy="1170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20624" y="3767328"/>
            <a:ext cx="804672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" y="376732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280160" y="3785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73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 LOWER COST, MODEST EFFECT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40599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Targeted Messaging — Senior Citizens &amp; No-Dependents Segment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0624" y="435254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signals (+1.3pp, +1.8pp) but large segment (31%). Low intervention cost.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74920" y="3803904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Personalised value messaging: bill clarity + loyalty programme awareness.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74920" y="4169664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200 customers/arm · Bayesian design · 8 weeks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74920" y="4462272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P(churn reduction &gt; 8pp) &gt; 0.95 (segment baseline: ~55%)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Statistical Power Analysis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power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1148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63440" y="777240"/>
            <a:ext cx="4206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800600" y="8412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 Design: 2×2×2 Factorial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006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binary factors creating 8 treatment arms: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800600" y="1554480"/>
            <a:ext cx="3931920" cy="502920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37760" y="15910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Factor A: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053328" y="1591056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Protection bundle (on / off)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00600" y="2148840"/>
            <a:ext cx="3931920" cy="502920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937760" y="21854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Factor B: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053328" y="2185416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support outreach (on / off)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800600" y="2743200"/>
            <a:ext cx="3931920" cy="502920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937760" y="27797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Factor C: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053328" y="2779776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intervention timing (≤40 days / later)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800600" y="3456432"/>
            <a:ext cx="3931920" cy="5486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800600" y="356616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00600" y="3566160"/>
            <a:ext cx="18288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873752" y="3703320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~200</a:t>
            </a:r>
            <a:endParaRPr lang="en-US" sz="3200" dirty="0"/>
          </a:p>
        </p:txBody>
      </p:sp>
      <p:sp>
        <p:nvSpPr>
          <p:cNvPr id="22" name="Text 19"/>
          <p:cNvSpPr/>
          <p:nvPr/>
        </p:nvSpPr>
        <p:spPr>
          <a:xfrm>
            <a:off x="4873752" y="422452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Customers/Arm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766560" y="356616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766560" y="3566160"/>
            <a:ext cx="1828800" cy="73152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839712" y="3703320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95%</a:t>
            </a:r>
            <a:endParaRPr lang="en-US" sz="3200" dirty="0"/>
          </a:p>
        </p:txBody>
      </p:sp>
      <p:sp>
        <p:nvSpPr>
          <p:cNvPr id="26" name="Text 23"/>
          <p:cNvSpPr/>
          <p:nvPr/>
        </p:nvSpPr>
        <p:spPr>
          <a:xfrm>
            <a:off x="6839712" y="422452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Power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Size Sensitivity &amp; Power Comparison</a:t>
            </a:r>
            <a:endParaRPr lang="en-US" sz="2200" dirty="0"/>
          </a:p>
        </p:txBody>
      </p:sp>
      <p:pic>
        <p:nvPicPr>
          <p:cNvPr id="5" name="Image 0" descr="/sessions/nifty-festive-knuth/mnt/Customer_Churn_Analysis/venv/Results/visualizations/sample_siz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114800" cy="4114800"/>
          </a:xfrm>
          <a:prstGeom prst="rect">
            <a:avLst/>
          </a:prstGeom>
        </p:spPr>
      </p:pic>
      <p:pic>
        <p:nvPicPr>
          <p:cNvPr id="6" name="Image 1" descr="/sessions/nifty-festive-knuth/mnt/Customer_Churn_Analysis/venv/Results/visualizations/power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77724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Expected Impact: $350K Annual Profit (Conservative)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10312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2103120" cy="5486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98755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7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~$350K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1673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Profit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(Conservative Estimate)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804672"/>
            <a:ext cx="210312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0" y="804672"/>
            <a:ext cx="210312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60320" y="98755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73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6,100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560320" y="1673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per Year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804672"/>
            <a:ext cx="210312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804672"/>
            <a:ext cx="2103120" cy="54864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98755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A5B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846320" y="1673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Power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(Test 1 @ 100/arm)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32320" y="804672"/>
            <a:ext cx="17373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0" y="804672"/>
            <a:ext cx="173736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132320" y="9875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D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7132320" y="16733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Tests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395728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395728"/>
            <a:ext cx="82296" cy="25146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8912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1 — Early Intervention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38912" y="2779776"/>
            <a:ext cx="259689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Conservative: 15% churn reduction among ≤40-day cohort. Monthly revenue saved: ~$17K. Annual impact: ~$204K. Investment: $75–$125/customer. Net ROI positive within 3 months.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27832" y="2395728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27832" y="2395728"/>
            <a:ext cx="82296" cy="2514600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92424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2 — Contract + Add-on Bundle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92424" y="2779776"/>
            <a:ext cx="259689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causal effect: −5.8pp (87% probability). Month-to-month customers (99.9% of base). Annual impact: ~$98K. Long-term stickiness via contract migration.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81344" y="2395728"/>
            <a:ext cx="28346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181344" y="2395728"/>
            <a:ext cx="82296" cy="25146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45936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3 — Targeted Messaging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45936" y="2779776"/>
            <a:ext cx="259689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signal, large addressable segment (31% of base). Low intervention cost. Annual impact: ~$47K. Highest ROI per dollar spent due to minimal cost.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11480" y="491032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estimates assume lower bounds of credible intervals. Full Bayesian models available in targeted_bayesian_test_design.md  ·  Phase 2–4 scripts in Phase_3_Experimental_Design/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has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g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OrangeLine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itleTxt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</a:rPr>
              <a:t> Bayesian Monitoring — Experiment Results</a:t>
            </a:r>
          </a:p>
        </p:txBody>
      </p:sp>
      <p:sp>
        <p:nvSpPr>
          <p:cNvPr id="5" name="C1Bg"/>
          <p:cNvSpPr/>
          <p:nvPr/>
        </p:nvSpPr>
        <p:spPr>
          <a:xfrm>
            <a:off x="274320" y="804672"/>
            <a:ext cx="2057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C1Bar"/>
          <p:cNvSpPr/>
          <p:nvPr/>
        </p:nvSpPr>
        <p:spPr>
          <a:xfrm>
            <a:off x="274320" y="804672"/>
            <a:ext cx="2057400" cy="5486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1Val"/>
          <p:cNvSpPr/>
          <p:nvPr/>
        </p:nvSpPr>
        <p:spPr>
          <a:xfrm>
            <a:off x="274320" y="98755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7A4A"/>
                </a:solidFill>
                <a:latin typeface="Trebuchet MS" pitchFamily="34" charset="0"/>
              </a:rPr>
              <a:t>99%</a:t>
            </a:r>
          </a:p>
        </p:txBody>
      </p:sp>
      <p:sp>
        <p:nvSpPr>
          <p:cNvPr id="8" name="C1Lbl"/>
          <p:cNvSpPr/>
          <p:nvPr/>
        </p:nvSpPr>
        <p:spPr>
          <a:xfrm>
            <a:off x="274320" y="16362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Confidence Level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(T2 is winner)</a:t>
            </a:r>
          </a:p>
        </p:txBody>
      </p:sp>
      <p:sp>
        <p:nvSpPr>
          <p:cNvPr id="9" name="C2Bg"/>
          <p:cNvSpPr/>
          <p:nvPr/>
        </p:nvSpPr>
        <p:spPr>
          <a:xfrm>
            <a:off x="2560320" y="804672"/>
            <a:ext cx="2057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C2Bar"/>
          <p:cNvSpPr/>
          <p:nvPr/>
        </p:nvSpPr>
        <p:spPr>
          <a:xfrm>
            <a:off x="2560320" y="804672"/>
            <a:ext cx="20574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2Val"/>
          <p:cNvSpPr/>
          <p:nvPr/>
        </p:nvSpPr>
        <p:spPr>
          <a:xfrm>
            <a:off x="2560320" y="98755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7377"/>
                </a:solidFill>
                <a:latin typeface="Trebuchet MS" pitchFamily="34" charset="0"/>
              </a:rPr>
              <a:t>+18.8pp</a:t>
            </a:r>
          </a:p>
        </p:txBody>
      </p:sp>
      <p:sp>
        <p:nvSpPr>
          <p:cNvPr id="12" name="C2Lbl"/>
          <p:cNvSpPr/>
          <p:nvPr/>
        </p:nvSpPr>
        <p:spPr>
          <a:xfrm>
            <a:off x="2560320" y="16362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Churn Reduction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(Expected effect)</a:t>
            </a:r>
          </a:p>
        </p:txBody>
      </p:sp>
      <p:sp>
        <p:nvSpPr>
          <p:cNvPr id="13" name="C3Bg"/>
          <p:cNvSpPr/>
          <p:nvPr/>
        </p:nvSpPr>
        <p:spPr>
          <a:xfrm>
            <a:off x="4846320" y="804672"/>
            <a:ext cx="2057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C3Bar"/>
          <p:cNvSpPr/>
          <p:nvPr/>
        </p:nvSpPr>
        <p:spPr>
          <a:xfrm>
            <a:off x="4846320" y="804672"/>
            <a:ext cx="2057400" cy="54864"/>
          </a:xfrm>
          <a:prstGeom prst="rect">
            <a:avLst/>
          </a:prstGeom>
          <a:solidFill>
            <a:srgbClr val="3A5BA0"/>
          </a:solidFill>
          <a:ln w="12700">
            <a:solidFill>
              <a:srgbClr val="3A5B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C3Val"/>
          <p:cNvSpPr/>
          <p:nvPr/>
        </p:nvSpPr>
        <p:spPr>
          <a:xfrm>
            <a:off x="4846320" y="98755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A5BA0"/>
                </a:solidFill>
                <a:latin typeface="Trebuchet MS" pitchFamily="34" charset="0"/>
              </a:rPr>
              <a:t>$82K</a:t>
            </a:r>
          </a:p>
        </p:txBody>
      </p:sp>
      <p:sp>
        <p:nvSpPr>
          <p:cNvPr id="16" name="C3Lbl"/>
          <p:cNvSpPr/>
          <p:nvPr/>
        </p:nvSpPr>
        <p:spPr>
          <a:xfrm>
            <a:off x="4846320" y="16362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Annual Profit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(700% ROI)</a:t>
            </a:r>
          </a:p>
        </p:txBody>
      </p:sp>
      <p:sp>
        <p:nvSpPr>
          <p:cNvPr id="17" name="C4Bg"/>
          <p:cNvSpPr/>
          <p:nvPr/>
        </p:nvSpPr>
        <p:spPr>
          <a:xfrm>
            <a:off x="7132320" y="804672"/>
            <a:ext cx="17373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C4Bar"/>
          <p:cNvSpPr/>
          <p:nvPr/>
        </p:nvSpPr>
        <p:spPr>
          <a:xfrm>
            <a:off x="7132320" y="804672"/>
            <a:ext cx="173736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C4Val"/>
          <p:cNvSpPr/>
          <p:nvPr/>
        </p:nvSpPr>
        <p:spPr>
          <a:xfrm>
            <a:off x="7132320" y="9875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D04"/>
                </a:solidFill>
                <a:latin typeface="Trebuchet MS" pitchFamily="34" charset="0"/>
              </a:rPr>
              <a:t>1.7mo</a:t>
            </a:r>
          </a:p>
        </p:txBody>
      </p:sp>
      <p:sp>
        <p:nvSpPr>
          <p:cNvPr id="20" name="C4Lbl"/>
          <p:cNvSpPr/>
          <p:nvPr/>
        </p:nvSpPr>
        <p:spPr>
          <a:xfrm>
            <a:off x="7132320" y="163627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Payback Period</a:t>
            </a:r>
          </a:p>
        </p:txBody>
      </p:sp>
      <p:sp>
        <p:nvSpPr>
          <p:cNvPr id="21" name="P1Bg"/>
          <p:cNvSpPr/>
          <p:nvPr/>
        </p:nvSpPr>
        <p:spPr>
          <a:xfrm>
            <a:off x="274320" y="2258568"/>
            <a:ext cx="2834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P1Acc"/>
          <p:cNvSpPr/>
          <p:nvPr/>
        </p:nvSpPr>
        <p:spPr>
          <a:xfrm>
            <a:off x="274320" y="2258568"/>
            <a:ext cx="82296" cy="265176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P1Ttl"/>
          <p:cNvSpPr/>
          <p:nvPr/>
        </p:nvSpPr>
        <p:spPr>
          <a:xfrm>
            <a:off x="438912" y="234986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Methodology</a:t>
            </a:r>
          </a:p>
        </p:txBody>
      </p:sp>
      <p:sp>
        <p:nvSpPr>
          <p:cNvPr id="24" name="P1Txt"/>
          <p:cNvSpPr/>
          <p:nvPr/>
        </p:nvSpPr>
        <p:spPr>
          <a:xfrm>
            <a:off x="438912" y="2642472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Bayesian sequential testing with automated stopping rules. Superiority threshold: P(&gt;8pp reduction) &gt; 95%. Futility threshold: P &lt; 5%. ROPE: ±2pp equivalence region. PyMC MCMC, 4 chains. R-hat ≈ 1.0 confirms convergence across all arms.</a:t>
            </a:r>
          </a:p>
        </p:txBody>
      </p:sp>
      <p:sp>
        <p:nvSpPr>
          <p:cNvPr id="25" name="P2Bg"/>
          <p:cNvSpPr/>
          <p:nvPr/>
        </p:nvSpPr>
        <p:spPr>
          <a:xfrm>
            <a:off x="3227832" y="2258568"/>
            <a:ext cx="2834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P2Acc"/>
          <p:cNvSpPr/>
          <p:nvPr/>
        </p:nvSpPr>
        <p:spPr>
          <a:xfrm>
            <a:off x="3227832" y="2258568"/>
            <a:ext cx="82296" cy="26517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P2Ttl"/>
          <p:cNvSpPr/>
          <p:nvPr/>
        </p:nvSpPr>
        <p:spPr>
          <a:xfrm>
            <a:off x="3392424" y="234986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Week 6 Results</a:t>
            </a:r>
          </a:p>
        </p:txBody>
      </p:sp>
      <p:sp>
        <p:nvSpPr>
          <p:cNvPr id="28" name="P2Txt"/>
          <p:cNvSpPr/>
          <p:nvPr/>
        </p:nvSpPr>
        <p:spPr>
          <a:xfrm>
            <a:off x="3392424" y="2642472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1,200 customers enrolled (300/arm). Segment baseline: 74.7% (0–6 month cohort, observed). Treatment 2 churn: 56%. Superiority detected at Week 6. Experiment stopped early. 95% CI: [11.0%, 26.5%]. All 3 arms beat control.</a:t>
            </a:r>
          </a:p>
        </p:txBody>
      </p:sp>
      <p:sp>
        <p:nvSpPr>
          <p:cNvPr id="29" name="P3Bg"/>
          <p:cNvSpPr/>
          <p:nvPr/>
        </p:nvSpPr>
        <p:spPr>
          <a:xfrm>
            <a:off x="6181344" y="2258568"/>
            <a:ext cx="2834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P3Acc"/>
          <p:cNvSpPr/>
          <p:nvPr/>
        </p:nvSpPr>
        <p:spPr>
          <a:xfrm>
            <a:off x="6181344" y="2258568"/>
            <a:ext cx="82296" cy="26517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P3Ttl"/>
          <p:cNvSpPr/>
          <p:nvPr/>
        </p:nvSpPr>
        <p:spPr>
          <a:xfrm>
            <a:off x="6345936" y="234986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Next Steps</a:t>
            </a:r>
          </a:p>
        </p:txBody>
      </p:sp>
      <p:sp>
        <p:nvSpPr>
          <p:cNvPr id="32" name="P3Txt"/>
          <p:cNvSpPr/>
          <p:nvPr/>
        </p:nvSpPr>
        <p:spPr>
          <a:xfrm>
            <a:off x="6345936" y="2642472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Deploy T2 (Smart Start $125) for all new customers. Monitor 90 days post-launch. Scale to existing customer base if results hold. Full automation via Bayesian dashboard in Phase 5.</a:t>
            </a:r>
          </a:p>
        </p:txBody>
      </p:sp>
      <p:sp>
        <p:nvSpPr>
          <p:cNvPr id="33" name="FootBg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FootTxt"/>
          <p:cNvSpPr/>
          <p:nvPr/>
        </p:nvSpPr>
        <p:spPr>
          <a:xfrm>
            <a:off x="411480" y="491032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B2D42"/>
                </a:solidFill>
                <a:latin typeface="Calibri" pitchFamily="34" charset="0"/>
              </a:rPr>
              <a:t>Monitoring scripts in Phase_4_implementation_and_Monitoring/  ·  Visualisations: posterior_plots.png, trace_plots.png, executive_dashboard_week_6.png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has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g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OrangeLine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itleTxt"/>
          <p:cNvSpPr/>
          <p:nvPr/>
        </p:nvSpPr>
        <p:spPr>
          <a:xfrm>
            <a:off x="274320" y="5486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</a:rPr>
              <a:t>  Cloud Deployment — Live Bayesian Dashboard</a:t>
            </a:r>
          </a:p>
        </p:txBody>
      </p:sp>
      <p:sp>
        <p:nvSpPr>
          <p:cNvPr id="5" name="DemoBg"/>
          <p:cNvSpPr/>
          <p:nvPr/>
        </p:nvSpPr>
        <p:spPr>
          <a:xfrm>
            <a:off x="1143000" y="804672"/>
            <a:ext cx="6858000" cy="1371600"/>
          </a:xfrm>
          <a:prstGeom prst="rect">
            <a:avLst/>
          </a:prstGeom>
          <a:solidFill>
            <a:srgbClr val="1E2761"/>
          </a:solidFill>
          <a:ln w="25400">
            <a:solidFill>
              <a:srgbClr val="E85D04"/>
            </a:solidFill>
            <a:prstDash val="solid"/>
          </a:ln>
          <a:effectLst>
            <a:outerShdw blurRad="762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DemoLabel"/>
          <p:cNvSpPr/>
          <p:nvPr/>
        </p:nvSpPr>
        <p:spPr>
          <a:xfrm>
            <a:off x="1143000" y="8586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D04"/>
                </a:solidFill>
                <a:latin typeface="Calibri" pitchFamily="34" charset="0"/>
              </a:rPr>
              <a:t>💻  LIVE DEMO</a:t>
            </a:r>
          </a:p>
        </p:txBody>
      </p:sp>
      <p:sp>
        <p:nvSpPr>
          <p:cNvPr id="7" name="DemoLink"/>
          <p:cNvSpPr/>
          <p:nvPr/>
        </p:nvSpPr>
        <p:spPr>
          <a:xfrm>
            <a:off x="1143000" y="124264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Trebuchet MS" pitchFamily="34" charset="0"/>
                <a:hlinkClick r:id="rId2"/>
              </a:rPr>
              <a:t>bayesian-dashboard-303092178542.us-central1.run.app</a:t>
            </a:r>
          </a:p>
        </p:txBody>
      </p:sp>
      <p:sp>
        <p:nvSpPr>
          <p:cNvPr id="8" name="F1Bg"/>
          <p:cNvSpPr/>
          <p:nvPr/>
        </p:nvSpPr>
        <p:spPr>
          <a:xfrm>
            <a:off x="274320" y="2349864"/>
            <a:ext cx="2834640" cy="2469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F1Acc"/>
          <p:cNvSpPr/>
          <p:nvPr/>
        </p:nvSpPr>
        <p:spPr>
          <a:xfrm>
            <a:off x="274320" y="2349864"/>
            <a:ext cx="82296" cy="246938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F1Ttl"/>
          <p:cNvSpPr/>
          <p:nvPr/>
        </p:nvSpPr>
        <p:spPr>
          <a:xfrm>
            <a:off x="438912" y="244130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Cloud Infrastructure</a:t>
            </a:r>
          </a:p>
        </p:txBody>
      </p:sp>
      <p:sp>
        <p:nvSpPr>
          <p:cNvPr id="11" name="F1Txt"/>
          <p:cNvSpPr/>
          <p:nvPr/>
        </p:nvSpPr>
        <p:spPr>
          <a:xfrm>
            <a:off x="438912" y="2734008"/>
            <a:ext cx="2596896" cy="19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Deployed on Google Cloud Run (GCP). Containerised via Docker. Auto-scaling serverless architecture. Zero-downtime updates. Procfile + requirements.txt for reproducibility.</a:t>
            </a:r>
          </a:p>
        </p:txBody>
      </p:sp>
      <p:sp>
        <p:nvSpPr>
          <p:cNvPr id="12" name="F2Bg"/>
          <p:cNvSpPr/>
          <p:nvPr/>
        </p:nvSpPr>
        <p:spPr>
          <a:xfrm>
            <a:off x="3227832" y="2349864"/>
            <a:ext cx="2834640" cy="2469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F2Acc"/>
          <p:cNvSpPr/>
          <p:nvPr/>
        </p:nvSpPr>
        <p:spPr>
          <a:xfrm>
            <a:off x="3227832" y="2349864"/>
            <a:ext cx="82296" cy="246938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F2Ttl"/>
          <p:cNvSpPr/>
          <p:nvPr/>
        </p:nvSpPr>
        <p:spPr>
          <a:xfrm>
            <a:off x="3392424" y="244130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Dashboard Features</a:t>
            </a:r>
          </a:p>
        </p:txBody>
      </p:sp>
      <p:sp>
        <p:nvSpPr>
          <p:cNvPr id="15" name="F2Txt"/>
          <p:cNvSpPr/>
          <p:nvPr/>
        </p:nvSpPr>
        <p:spPr>
          <a:xfrm>
            <a:off x="3392424" y="2734008"/>
            <a:ext cx="2596896" cy="19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Real-time churn predictions. Live Bayesian experiment monitoring. Posterior distribution charts. Automated decision memos. Weekly executive summaries. Streamlit-powered UI.</a:t>
            </a:r>
          </a:p>
        </p:txBody>
      </p:sp>
      <p:sp>
        <p:nvSpPr>
          <p:cNvPr id="16" name="F3Bg"/>
          <p:cNvSpPr/>
          <p:nvPr/>
        </p:nvSpPr>
        <p:spPr>
          <a:xfrm>
            <a:off x="6181344" y="2349864"/>
            <a:ext cx="2834640" cy="2469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508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F3Acc"/>
          <p:cNvSpPr/>
          <p:nvPr/>
        </p:nvSpPr>
        <p:spPr>
          <a:xfrm>
            <a:off x="6181344" y="2349864"/>
            <a:ext cx="82296" cy="2469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F3Ttl"/>
          <p:cNvSpPr/>
          <p:nvPr/>
        </p:nvSpPr>
        <p:spPr>
          <a:xfrm>
            <a:off x="6345936" y="2441304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</a:rPr>
              <a:t>Portfolio Summary</a:t>
            </a:r>
          </a:p>
        </p:txBody>
      </p:sp>
      <p:sp>
        <p:nvSpPr>
          <p:cNvPr id="19" name="F3Txt"/>
          <p:cNvSpPr/>
          <p:nvPr/>
        </p:nvSpPr>
        <p:spPr>
          <a:xfrm>
            <a:off x="6345936" y="2734008"/>
            <a:ext cx="2596896" cy="19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</a:rPr>
              <a:t>Phase 1: ML Analysis (H2O AutoML, 93.4% AUC). Phase 2: Causal Inference (PyMC). Phase 3: Experiment Design. Phase 4: Bayesian Monitoring. Phase 5: GCP Deployment.</a:t>
            </a:r>
          </a:p>
        </p:txBody>
      </p:sp>
      <p:sp>
        <p:nvSpPr>
          <p:cNvPr id="20" name="FootBg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solidFill>
            <a:srgbClr val="F4F6FB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ootTxt"/>
          <p:cNvSpPr/>
          <p:nvPr/>
        </p:nvSpPr>
        <p:spPr>
          <a:xfrm>
            <a:off x="411480" y="491032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B2D42"/>
                </a:solidFill>
                <a:latin typeface="Calibri" pitchFamily="34" charset="0"/>
              </a:rPr>
              <a:t>Deployment scripts in Phase_5_Deployment_guide/  ·  Dockerfile + Cloud Run config  ·  Demo: https://bayesian-dashboard-303092178542.us-central1.run.app/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1737</Words>
  <Application>Microsoft Macintosh PowerPoint</Application>
  <PresentationFormat>On-screen Show (16:9)</PresentationFormat>
  <Paragraphs>274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Churn – Path B: Validate Specific Recommendations</dc:title>
  <dc:subject>PptxGenJS Presentation</dc:subject>
  <dc:creator>Ella Ndalla</dc:creator>
  <cp:lastModifiedBy>Ella Ndalla</cp:lastModifiedBy>
  <cp:revision>7</cp:revision>
  <dcterms:created xsi:type="dcterms:W3CDTF">2026-03-05T19:36:51Z</dcterms:created>
  <dcterms:modified xsi:type="dcterms:W3CDTF">2026-03-16T02:53:17Z</dcterms:modified>
</cp:coreProperties>
</file>
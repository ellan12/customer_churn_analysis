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0" r:id="rId23"/>
    <p:sldId id="281" r:id="rId24"/>
    <p:sldId id="282" r:id="rId25"/>
    <p:sldId id="283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586"/>
  </p:normalViewPr>
  <p:slideViewPr>
    <p:cSldViewPr snapToGrid="0" snapToObjects="1">
      <p:cViewPr varScale="1">
        <p:scale>
          <a:sx n="126" d="100"/>
          <a:sy n="126" d="100"/>
        </p:scale>
        <p:origin x="103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50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Kaggle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0"/>
            <a:ext cx="201168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Churn Prediction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Causal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Bayesian Inference · Experimental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 Ndalla  |  Senior Data Scientist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Retention  ·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Business Challenge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09728" cy="4023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Churn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Telecommunications companies lose significant revenue when customers switch providers.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at-risk customers early enables proactive retention strategies before churn occurs.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goes beyond standard churn prediction — it applies rigorous causal inference to distinguish correlation from causation, ensuring business recommendations rest on defensible evidence.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41248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841248"/>
            <a:ext cx="109728" cy="402336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914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3258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Predict customer churn accurately using ML models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Identify and rank key churn drivers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Apply causal inference to correct methodological biases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Design statistically powered retention experiment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Enable targeted, evidence-based retention strategies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201168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978408"/>
            <a:ext cx="186537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7,043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7472" y="1554480"/>
            <a:ext cx="186537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Dataset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84124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68880" y="841248"/>
            <a:ext cx="2011680" cy="73152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42032" y="978408"/>
            <a:ext cx="186537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42032" y="1554480"/>
            <a:ext cx="186537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Customer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0016" y="896112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841248"/>
            <a:ext cx="2011680" cy="7315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36592" y="978408"/>
            <a:ext cx="186537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26.5%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36592" y="1554480"/>
            <a:ext cx="186537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84124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0" y="841248"/>
            <a:ext cx="20116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94576" y="921847"/>
            <a:ext cx="186537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</a:rPr>
              <a:t>41.4%</a:t>
            </a:r>
          </a:p>
        </p:txBody>
      </p:sp>
      <p:sp>
        <p:nvSpPr>
          <p:cNvPr id="20" name="Text 18"/>
          <p:cNvSpPr/>
          <p:nvPr/>
        </p:nvSpPr>
        <p:spPr>
          <a:xfrm>
            <a:off x="6931152" y="1554480"/>
            <a:ext cx="186537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cs typeface="Calibri" pitchFamily="34" charset="-120"/>
              </a:rPr>
              <a:t>Min Churn Rate Among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cs typeface="Calibri" pitchFamily="34" charset="-120"/>
              </a:rPr>
              <a:t>Predicted Churners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2402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240280"/>
            <a:ext cx="82296" cy="2560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8912" y="235000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2642616"/>
            <a:ext cx="245973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· Senior Citizen · Partner · Dependents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Pre-treatment exogenous variables — valid causal controls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2402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46120" y="2240280"/>
            <a:ext cx="82296" cy="256032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10712" y="235000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 &amp; Contract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10712" y="2642616"/>
            <a:ext cx="245973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· Contract Type · Payment Method · Monthly Charges · Total Charges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or downstream — require causal treatment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2402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72200" y="2240280"/>
            <a:ext cx="82296" cy="25603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36792" y="235000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36792" y="2642616"/>
            <a:ext cx="245973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Internet · Streaming · Online Security · Device Protection · Tech Support · Online Backup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add-ons are the primary treatment variable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Multi-Phase Technical Approach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05740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822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&amp; SQL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imputation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852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77440" y="77724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77440" y="777240"/>
            <a:ext cx="2057400" cy="64008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68880" y="804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035808" y="822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Modeling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(PySpark)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1460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 AutoML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14600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Ensemble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14600" y="2852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77724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80560" y="777240"/>
            <a:ext cx="20574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804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38928" y="822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Causal Inference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1772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role classification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1772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Collider bias correction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17720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regression (PyMC)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17720" y="2852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MCMC sampling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83680" y="77724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83680" y="777240"/>
            <a:ext cx="2057400" cy="64008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75120" y="804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42048" y="822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 Design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2×2×2 factorial design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208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analysis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20840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sensitivity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20840" y="2852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monitoring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A5B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99011" y="1014153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&amp; 2: Machine Learning Results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 Comparison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941231"/>
              </p:ext>
            </p:extLst>
          </p:nvPr>
        </p:nvGraphicFramePr>
        <p:xfrm>
          <a:off x="365760" y="1170432"/>
          <a:ext cx="3840480" cy="208483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H2O Stacked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93.4%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96.72%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~90.5%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1170432"/>
            <a:ext cx="38404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4048" y="1170432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         Decision Tree         H2O Stacked Ensemble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3547872"/>
            <a:ext cx="38404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3602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3858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H2O AutoML — Stacked Ensemble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41650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AUC-ROC  |  Best overall performance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63440" y="777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ROC Curve — H2O Stacked Ensemble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20E1B39-E5D2-9CE5-FA23-85C8DBCB5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777238"/>
            <a:ext cx="4319671" cy="41605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 Analysis 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H2O </a:t>
            </a: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AutoML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176730" y="942302"/>
            <a:ext cx="3291840" cy="1734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add-ons services and payment options account for over 60% of decision power.</a:t>
            </a:r>
            <a:endParaRPr lang="en-US" sz="13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FE97388-1308-9973-46C7-66032AEFF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00" y="658368"/>
            <a:ext cx="4724218" cy="42844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Evaluation: Confusion Matrix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303520" y="77724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40680" y="868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94960" y="1280160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394960" y="1280160"/>
            <a:ext cx="82296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559552" y="138988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Positive Rate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59552" y="1682496"/>
            <a:ext cx="3145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correctly identifies ~90.5% of actual churners — strong recall for targeting at-risk customers.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94960" y="2423160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394960" y="2423160"/>
            <a:ext cx="82296" cy="100584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559552" y="253288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 Positive Rate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59552" y="2825496"/>
            <a:ext cx="3145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~21.6% of predicted churners are non-churners — acceptable for outreach campaigns where false positives have low cost.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94960" y="3566160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5394960" y="3566160"/>
            <a:ext cx="82296" cy="10058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559552" y="367588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Imbalance Note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559552" y="3968496"/>
            <a:ext cx="3145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has 26.5% churn rate. </a:t>
            </a:r>
            <a:r>
              <a:rPr lang="en-US" sz="1000" dirty="0"/>
              <a:t>SMOTE was applied to balance the training distribution before H2O </a:t>
            </a:r>
            <a:r>
              <a:rPr lang="en-US" sz="1000" dirty="0" err="1"/>
              <a:t>AutoML</a:t>
            </a:r>
            <a:r>
              <a:rPr lang="en-US" sz="1000" dirty="0"/>
              <a:t>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5F1BC11-1DA7-419A-ADAC-617753135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514002"/>
            <a:ext cx="4595944" cy="33780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Churn Drivers — Ranked Analysis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churn_drivers_ran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A5B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3: Causal Inference &amp; Methodology Correction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Predictive ML Is Not Enough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91440" cy="9601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804672"/>
            <a:ext cx="82296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analysis controlled for tenure, contract type, and payment method as confounders — but this is methodologically incorrect. These variables are endogenous customer choices or downstream mediators, not pre-treatment controls.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8595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82296" cy="89611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2029968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COLLIDER — Tenure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2322576"/>
            <a:ext cx="8357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BOTH add-on adoption AND survival/churn. Controlling for it creates spurious correlations (survivorship bias).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907792"/>
            <a:ext cx="8595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907792"/>
            <a:ext cx="82296" cy="896112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3017520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OTHER TREATMENT — Contract / Payment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3310128"/>
            <a:ext cx="8357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endogenous customer choices correlated with loyalty. They need their own identification strategy, not inclusion as controls.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895344"/>
            <a:ext cx="8595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895344"/>
            <a:ext cx="82296" cy="8961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4005072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MEDIATOR — Monthly/Total Charges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4297680"/>
            <a:ext cx="8357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sit on the causal path: Add-ons → Charges → Churn. Controlling for mediators blocks the very effect we want to estimate.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Causal Variable Classification</a:t>
            </a:r>
            <a:endParaRPr lang="en-US" sz="2200" dirty="0"/>
          </a:p>
        </p:txBody>
      </p:sp>
      <p:pic>
        <p:nvPicPr>
          <p:cNvPr id="5" name="Image 0" descr="/sessions/nifty-festive-knuth/mnt/Customer_Churn_Analysis/Missing_churn_testingfiles/3_valid_invalid_controls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5720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20640" y="777240"/>
            <a:ext cx="3749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257800" y="841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Rule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11704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valid confounder if and only if: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Measured BEFORE treatment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EXOGENOUS — not a customer choice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Common cause of both treatment &amp; outcome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166360" y="2176272"/>
            <a:ext cx="173736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166360" y="2176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Controls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57800" y="24871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SeniorCitizen · Dependents · Partner · Gender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166360" y="3108960"/>
            <a:ext cx="1737360" cy="25603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166360" y="3108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— Remove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257800" y="341985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(collider) · Contract, Payment Method (other treatments) · Monthly/Total Charges (mediators)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Collider Bias: Empirical Demonstration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Collider Stratification Effect</a:t>
            </a:r>
            <a:endParaRPr lang="en-US" sz="1200" dirty="0"/>
          </a:p>
        </p:txBody>
      </p:sp>
      <p:pic>
        <p:nvPicPr>
          <p:cNvPr id="6" name="Image 0" descr="/sessions/nifty-festive-knuth/mnt/Customer_Churn_Analysis/Missing_churn_testingfiles/2_collider_bias_demon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420624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777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Tenure Effect</a:t>
            </a:r>
            <a:endParaRPr lang="en-US" sz="1200" dirty="0"/>
          </a:p>
        </p:txBody>
      </p:sp>
      <p:pic>
        <p:nvPicPr>
          <p:cNvPr id="8" name="Image 1" descr="/sessions/nifty-festive-knuth/mnt/Customer_Churn_Analysis/Missing_churn_testingfiles/1_early_tenure_eff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97280"/>
            <a:ext cx="4206240" cy="32918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1148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for tenure artificially reverses or masks the true service add-on effect — a classic symptom of collider bias. The corrected model excludes tenure from confounders.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Causal Validation — PyMC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trace_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20624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5488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89204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Approach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92040" y="1261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92040" y="15361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logistic regression using PyMC with MCMC sampling (NUTS sampler)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92040" y="2039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Confounders: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92040" y="23134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exogenous demographics: SeniorCitizen, Dependents, Partner, Gender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92040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92040" y="30906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add-on bundle (Device Protection, Online Security, Tech Support)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92040" y="3593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Convergence: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92040" y="38679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plots confirm MCMC chain convergence (R-hat ≈ 1.0, effective samples &gt; 400)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Posterior Distributions &amp; Predictive Check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posterior_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114800" cy="4114800"/>
          </a:xfrm>
          <a:prstGeom prst="rect">
            <a:avLst/>
          </a:prstGeom>
        </p:spPr>
      </p:pic>
      <p:pic>
        <p:nvPicPr>
          <p:cNvPr id="6" name="Image 1" descr="/sessions/nifty-festive-knuth/mnt/Customer_Churn_Analysis/venv/Results/visualizations/posterior_predictive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77724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Causal Comparison: Before vs After Correction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causa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A5B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4: Experimental Design &amp; Monitoring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Power Analysis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power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1148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777240"/>
            <a:ext cx="4206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800600" y="841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 Design: 2×2×2 Factorial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006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binary factors creating 8 treatment arms: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00600" y="1554480"/>
            <a:ext cx="393192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37760" y="15910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 A: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53328" y="159105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Protection bundle (on / off)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00600" y="2148840"/>
            <a:ext cx="393192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937760" y="21854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 B: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53328" y="21854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support outreach (on / off)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00600" y="2743200"/>
            <a:ext cx="393192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37760" y="27797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 C: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53328" y="277977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 timing (≤40 days / later)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00600" y="3456432"/>
            <a:ext cx="393192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800600" y="3566160"/>
            <a:ext cx="1828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800600" y="3566160"/>
            <a:ext cx="18288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73752" y="3703320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~200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4873752" y="422452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Customers/Arm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766560" y="3566160"/>
            <a:ext cx="1828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766560" y="3566160"/>
            <a:ext cx="1828800" cy="73152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839712" y="3703320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6839712" y="422452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Power (β)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Size Sensitivity &amp; Power Comparison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sample_size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114800" cy="4114800"/>
          </a:xfrm>
          <a:prstGeom prst="rect">
            <a:avLst/>
          </a:prstGeom>
        </p:spPr>
      </p:pic>
      <p:pic>
        <p:nvPicPr>
          <p:cNvPr id="6" name="Image 1" descr="/sessions/nifty-festive-knuth/mnt/Customer_Churn_Analysis/venv/Results/visualizations/power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77724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Dashboard — Week 6 Monitoring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executive_dashboard_week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A5B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Dashboard: Model Predictions</a:t>
            </a:r>
            <a:endParaRPr lang="en-US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A5B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Recommendations &amp; Deployment</a:t>
            </a:r>
            <a:endParaRPr 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Evidence-Based Business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94360" cy="19202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9875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Intervention Program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37160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retention outreach within first 40 days of customer journey. Early tenure effect is the single strongest churn predictor.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82296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822960"/>
            <a:ext cx="594360" cy="192024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257800" y="9875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Enhanced Contract Plans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37160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attractive long-term contracts bundled with service add-ons. Month-to-month customers churn at 3× the rate of annual subscribers.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594360" cy="1920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3566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05840" y="29992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Bundle Promotion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3832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Device Protection, Online Backup, and Tech Support packages. Causal estimates show significant protective effect against churn.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26280" y="283464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26280" y="2834640"/>
            <a:ext cx="59436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0" y="3566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257800" y="29992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Targeted Marketing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33832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retention campaigns on high-risk segments: senior citizens, customers without dependents, first-90-day cohorts.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&amp; Technology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9144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Interactive Dashboard — AWS Elastic Beanstalk (US-East-1)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churn predictions and customer risk scoring available on demand. Deployed Dash/Plotly application with MLflow model registry integration.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084832"/>
            <a:ext cx="8595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084832"/>
            <a:ext cx="91440" cy="4937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Processing: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2194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· Spark SQL · Pandas · NumPy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8595360" cy="493776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91440" cy="493776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761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Modeling: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27614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 AutoML · Stacked Ensemble · MLflow Tracking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218688"/>
            <a:ext cx="8595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218688"/>
            <a:ext cx="91440" cy="4937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328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Causal Inference: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33284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PyMC · ArviZ · MCMC (NUTS Sampler)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85616"/>
            <a:ext cx="8595360" cy="493776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785616"/>
            <a:ext cx="91440" cy="4937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895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389534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Plotly · Matplotlib · Seaborn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352544"/>
            <a:ext cx="8595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4352544"/>
            <a:ext cx="91440" cy="4937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4462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0" y="44622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Elastic Beanstalk · Docker · Procfile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01168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00" cy="68580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correlation to causation — a rigorous end-to-end pipeline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384048" cy="38404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12070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 AutoML Stacked Ensemble achieves 87% AUC-ROC — best predictive performance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384048" cy="38404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195681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corrected methodological bias (collider, mediator, endogenous controls)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670048"/>
            <a:ext cx="384048" cy="38404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" y="270662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causal model confirms: service add-ons causally reduce churn probability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419856"/>
            <a:ext cx="384048" cy="38404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345643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2×2×2 factorial experiment designed with 80% power — ready for A/B rollout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169664"/>
            <a:ext cx="384048" cy="38404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" y="42062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monitors KPIs week-over-week for stakeholder transparency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1155</Words>
  <Application>Microsoft Macintosh PowerPoint</Application>
  <PresentationFormat>On-screen Show (16:9)</PresentationFormat>
  <Paragraphs>224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&amp; Causal Analysis</dc:title>
  <dc:subject>PptxGenJS Presentation</dc:subject>
  <dc:creator>Ella Ndalla</dc:creator>
  <cp:lastModifiedBy>Ella Ndalla</cp:lastModifiedBy>
  <cp:revision>3</cp:revision>
  <dcterms:created xsi:type="dcterms:W3CDTF">2026-03-05T14:24:02Z</dcterms:created>
  <dcterms:modified xsi:type="dcterms:W3CDTF">2026-03-06T03:47:30Z</dcterms:modified>
</cp:coreProperties>
</file>
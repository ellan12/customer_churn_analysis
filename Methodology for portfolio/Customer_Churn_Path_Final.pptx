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5" r:id="rId2"/>
    <p:sldId id="264" r:id="rId3"/>
    <p:sldId id="257" r:id="rId4"/>
    <p:sldId id="265" r:id="rId5"/>
    <p:sldId id="266" r:id="rId6"/>
    <p:sldId id="258" r:id="rId7"/>
    <p:sldId id="267" r:id="rId8"/>
    <p:sldId id="259" r:id="rId9"/>
    <p:sldId id="269" r:id="rId10"/>
    <p:sldId id="270" r:id="rId11"/>
    <p:sldId id="271" r:id="rId12"/>
    <p:sldId id="260" r:id="rId13"/>
    <p:sldId id="273" r:id="rId14"/>
    <p:sldId id="274" r:id="rId15"/>
    <p:sldId id="26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8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746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Kaggle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0116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 Prediction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Causal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Bayesian Inference · Experimental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Ndalla  |  Senior Data Scientist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Retention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01168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978408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7,043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84124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841248"/>
            <a:ext cx="2011680" cy="7315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42032" y="978408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4203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Customer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0016" y="896112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841248"/>
            <a:ext cx="2011680" cy="7315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36592" y="978408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3659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84124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0" y="841248"/>
            <a:ext cx="20116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94576" y="921847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</a:rPr>
              <a:t>41.4%</a:t>
            </a:r>
          </a:p>
        </p:txBody>
      </p:sp>
      <p:sp>
        <p:nvSpPr>
          <p:cNvPr id="20" name="Text 18"/>
          <p:cNvSpPr/>
          <p:nvPr/>
        </p:nvSpPr>
        <p:spPr>
          <a:xfrm>
            <a:off x="693115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cs typeface="Calibri" pitchFamily="34" charset="-120"/>
              </a:rPr>
              <a:t>Min Churn Rate Among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cs typeface="Calibri" pitchFamily="34" charset="-120"/>
              </a:rPr>
              <a:t>Predicted Churners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240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240280"/>
            <a:ext cx="82296" cy="2560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2350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2642616"/>
            <a:ext cx="24597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· Senior Citizen · Partner · Dependents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Pre-treatment exogenous variables — valid causal controls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240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46120" y="2240280"/>
            <a:ext cx="82296" cy="256032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10712" y="2350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 &amp; Contract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10712" y="2642616"/>
            <a:ext cx="24597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· Contract Type · Payment Method · Monthly Charges · Total Charges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or downstream — require causal treatment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240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72200" y="2240280"/>
            <a:ext cx="82296" cy="25603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36792" y="2350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36792" y="2642616"/>
            <a:ext cx="24597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Internet · Streaming · Online Security · Device Protection · Tech Support · Online Backup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add-ons are the primary treatment variable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2296" cy="41148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customers are churning at a rate that is draining $942K in annual revenue. Predictive ML identifies who will churn — but that alone is not enough.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 is: which interventions actually reduce churn? And do our instincts about what works hold up under rigorous causal testing?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206240" cy="109728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816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906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predict churn but cannot tell us whether promoting add-ons, changing contracts, or targeting new customers will actually lower it. Correlation ≠ causation.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822960"/>
            <a:ext cx="1828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74920" y="822960"/>
            <a:ext cx="18288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10058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26.5%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7492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822960"/>
            <a:ext cx="1828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40880" y="822960"/>
            <a:ext cx="1828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10058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$942K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04088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Risk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4920" y="2304288"/>
            <a:ext cx="1828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74920" y="2304288"/>
            <a:ext cx="1828800" cy="54864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24871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7,043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074920" y="3172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Analysed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2304288"/>
            <a:ext cx="18288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40880" y="2304288"/>
            <a:ext cx="1828800" cy="54864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0880" y="24871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1,869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7040880" y="3172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Churners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3785616"/>
            <a:ext cx="37947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12080" y="385876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need to test interventions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just predict who churns.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Multi-Phase Technical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0574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&amp; 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7744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77440" y="777240"/>
            <a:ext cx="2057400" cy="64008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888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03580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(PySpark)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1460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 </a:t>
            </a:r>
            <a:r>
              <a:rPr lang="en-US" sz="10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</a:t>
            </a: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Stacked Ensemble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0" y="777240"/>
            <a:ext cx="20574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3892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Inference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role classification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1772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 bias correction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regression (PyMC)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772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MCMC sampling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83680" y="777240"/>
            <a:ext cx="2057400" cy="6400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4204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Design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2×2×2 factorial design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208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sensitivity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2084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Comparison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65760" y="1170432"/>
          <a:ext cx="3840480" cy="208483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H2O Stacked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93.4%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96.72%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~90.5%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1170432"/>
            <a:ext cx="3840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117043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        Decision Tree         H2O Stacked Ensemble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3547872"/>
            <a:ext cx="38404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H2O AutoML — Stacked Ensemble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41650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AUC-ROC  |  Best overall performance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6344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 Curve — H2O Stacked Ensemble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0E1B39-E5D2-9CE5-FA23-85C8DBCB5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777238"/>
            <a:ext cx="4319671" cy="41605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ML Analysis: H2O AutoML Stacked Ensemble — Best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8778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PySpark Decision Tree (baseline) → H2O AutoML (production)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8912" y="11704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Churn Drivers — Ranked by H2O Stacked Ensemble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517904"/>
            <a:ext cx="429768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517904"/>
            <a:ext cx="438912" cy="4937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517904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9536" y="1572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Tenure ≤ 40 days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18105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vs 69% churn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29584" y="160934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+10pp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2103120"/>
            <a:ext cx="429768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2103120"/>
            <a:ext cx="438912" cy="493776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2103120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9536" y="21579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Month-to-Month contract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9536" y="23957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vs 6.8% churn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29584" y="219456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+36pp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7472" y="2688336"/>
            <a:ext cx="429768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2688336"/>
            <a:ext cx="438912" cy="493776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2688336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2743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 check payment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9536" y="29809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 vs 17.1% churn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29584" y="2779776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+28pp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7472" y="3273552"/>
            <a:ext cx="429768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7472" y="3273552"/>
            <a:ext cx="438912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3273552"/>
            <a:ext cx="438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9536" y="33284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Fiber optic service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9536" y="35661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 vs 14.5% churn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29584" y="336499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+27pp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7472" y="3895344"/>
            <a:ext cx="4297680" cy="877824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3776" y="395020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Add-on Services (naive): 71.4% vs 71.6% = −0.2%  →  NO EFFECT apparent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paradox is resolved by causal analysis on the next slide.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74920" y="822960"/>
            <a:ext cx="379476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74920" y="8229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BEST MODEL: H2O AutoML Stacked Ensemble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74920" y="1389888"/>
            <a:ext cx="178308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74920" y="1389888"/>
            <a:ext cx="17830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74920" y="1572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96%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5074920" y="22585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(H2O Leaderboard CV)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95160" y="1389888"/>
            <a:ext cx="178308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995160" y="1389888"/>
            <a:ext cx="178308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95160" y="1572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90.5%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6995160" y="22585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(churners caught)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74920" y="2798064"/>
            <a:ext cx="178308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074920" y="2798064"/>
            <a:ext cx="1783080" cy="54864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74920" y="298094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78.4%</a:t>
            </a:r>
            <a:endParaRPr lang="en-US" sz="3800" dirty="0"/>
          </a:p>
        </p:txBody>
      </p:sp>
      <p:sp>
        <p:nvSpPr>
          <p:cNvPr id="47" name="Text 45"/>
          <p:cNvSpPr/>
          <p:nvPr/>
        </p:nvSpPr>
        <p:spPr>
          <a:xfrm>
            <a:off x="5074920" y="36667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 flagged churners)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95160" y="2798064"/>
            <a:ext cx="178308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995160" y="2798064"/>
            <a:ext cx="1783080" cy="54864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995160" y="298094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0.474</a:t>
            </a:r>
            <a:endParaRPr lang="en-US" sz="3800" dirty="0"/>
          </a:p>
        </p:txBody>
      </p:sp>
      <p:sp>
        <p:nvSpPr>
          <p:cNvPr id="51" name="Text 49"/>
          <p:cNvSpPr/>
          <p:nvPr/>
        </p:nvSpPr>
        <p:spPr>
          <a:xfrm>
            <a:off x="6995160" y="36667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(max F1)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74920" y="4224528"/>
            <a:ext cx="3794760" cy="6583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193792" y="42793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H2O AutoML wins: Stacked Ensemble combines GBM, XGBoost, and GLM base learners via a metalearner — outperforming any single algorithm. SMOTE applied pre-training for class balancing.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Variable Classification</a:t>
            </a:r>
            <a:endParaRPr lang="en-US" sz="2200" dirty="0"/>
          </a:p>
        </p:txBody>
      </p:sp>
      <p:pic>
        <p:nvPicPr>
          <p:cNvPr id="5" name="Image 0" descr="/sessions/nifty-festive-knuth/mnt/Customer_Churn_Analysis/Missing_churn_testingfiles/3_valid_invalid_control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5720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0" y="777240"/>
            <a:ext cx="3749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257800" y="841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Rule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11704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valid confounder if and only if: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Measured BEFORE treatment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EXOGENOUS — not a customer choice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Common cause of both treatment &amp; outcome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66360" y="2176272"/>
            <a:ext cx="173736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66360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Controls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57800" y="24871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 · Dependents · Partner · Gender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66360" y="3108960"/>
            <a:ext cx="1737360" cy="2560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66360" y="3108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— Remove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57800" y="341985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(collider) · Contract, Payment Method (other treatments) · Monthly/Total Charges (mediators)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Causal Validation: Resolving the Add-on Paradox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2296" cy="7132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Paradox: Customers who churn leave BEFORE adopting add-ons — creating confounding. Tenure acts as a collider: it is caused by both add-on adoption AND survival. Controlling for it creates spurious correlations (survivorship bias).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26517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7190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 COMPARISON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not Causation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14016"/>
            <a:ext cx="2468880" cy="6583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add-ons: 71.4% churn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Without: 71.6% churn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1455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Effect: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4015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−0.2%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65760" y="3913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DIFFERENCE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(Misleading — due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 by tenure)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17520" y="2651760"/>
            <a:ext cx="640080" cy="640080"/>
          </a:xfrm>
          <a:prstGeom prst="rightArrow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49040" y="1719072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49040" y="1719072"/>
            <a:ext cx="28346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49040" y="1719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CAUSAL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121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G-computation + Propensity Weighting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0" y="2414016"/>
            <a:ext cx="2651760" cy="6583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50208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for: SeniorCitizen,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Dependents, Partner, Gender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31455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34015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−5.8%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840480" y="3913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[−8.2%, −3.4%]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4206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P(reduces churn by 5%+): 87%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2651760"/>
            <a:ext cx="640080" cy="640080"/>
          </a:xfrm>
          <a:prstGeom prst="rightArrow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406640" y="1719072"/>
            <a:ext cx="146304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0664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3364992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 DO reduce churn after controlling for tenure confounding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Causal Validation — PyMC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trace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2062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9204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Approach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92040" y="1261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92040" y="15361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using PyMC with MCMC sampling (NUTS sampler)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92040" y="2039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Confounders: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92040" y="23134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exogenous demographics: SeniorCitizen, Dependents, Partner, Gender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92040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92040" y="30906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add-on bundle (Device Protection, Online Security, Tech Support)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92040" y="3593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Convergence: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38679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plots confirm MCMC chain convergence (R-hat ≈ 1.0, effective samples &gt; 400)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Posterior Distributions &amp; Predictive Check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posterior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114800" cy="4114800"/>
          </a:xfrm>
          <a:prstGeom prst="rect">
            <a:avLst/>
          </a:prstGeom>
        </p:spPr>
      </p:pic>
      <p:pic>
        <p:nvPicPr>
          <p:cNvPr id="6" name="Image 1" descr="/sessions/nifty-festive-knuth/mnt/Customer_Churn_Analysis/venv/Results/visualizations/posterior_predictiv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7772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Comparison: Before vs After Correction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causa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Experimental Design: 3 Prioritised Bayesian Tests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680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by ROI  ·  See targeted_bayesian_test_design.md for full specifications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2296" cy="11704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0624" y="1170432"/>
            <a:ext cx="804672" cy="2560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1704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188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⭐⭐⭐ HIGHEST PRIORITY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463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Intervention — Customers ≤ 40 Days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" y="175564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signal (+10pp penalty). Time-sensitive window. 25% of base, 79% churn.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74920" y="1207008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3 arms: Welcome Bundle ($75) · Concierge Onboarding ($50) · Smart Start Package ($125)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74920" y="157276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100 customers/arm · 85% Bayesian power · 6–8 weeks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74920" y="186537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P(churn reduction &gt; 15%) &gt; 0.85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95728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82296" cy="117043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0624" y="2468880"/>
            <a:ext cx="804672" cy="25603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" y="246888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24871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⭐⭐ UNIVERSAL APPLICABILITY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0624" y="27614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+ Add-on Bundle — Month-to-Month Customers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" y="305409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of base are month-to-month. Validated add-on effect (−5.8% causal). Contract migration reduces churn by ~30pp.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74920" y="2505456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2×2 factorial: Contract upgrade × Add-on bundle. 4 arms.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74920" y="28712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150 customers/arm · 80% power · 12 weeks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74920" y="316382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P(churn reduction &gt; 10%) &gt; 0.80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94176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694176"/>
            <a:ext cx="82296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0624" y="3767328"/>
            <a:ext cx="80467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" y="37673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80160" y="3785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LOWER COST, MODEST EFFECT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40599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Targeted Messaging — Senior Citizens &amp; No-Dependents Segment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0624" y="435254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signals (+1.3pp, +1.8pp) but large segment (31%). Low intervention cost.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74920" y="3803904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Personalised value messaging: bill clarity + loyalty programme awareness.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74920" y="41696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200 customers/arm · Frequentist design · 8 weeks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74920" y="44622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P(churn reduction &gt; 3%) &gt; 0.75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Power Analysis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powe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1148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777240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0060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Design: 2×2×2 Factorial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006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binary factors creating 8 treatment arms: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1554480"/>
            <a:ext cx="3931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0" y="1591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A: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53328" y="159105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Protection bundle (on / off)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2148840"/>
            <a:ext cx="3931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37760" y="21854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B: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53328" y="21854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support outreach (on / off)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00600" y="2743200"/>
            <a:ext cx="3931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37760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C: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53328" y="27797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timing (≤40 days / later)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00600" y="3456432"/>
            <a:ext cx="393192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00600" y="3566160"/>
            <a:ext cx="1828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00600" y="3566160"/>
            <a:ext cx="18288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73752" y="370332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~200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873752" y="422452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Customers/Arm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66560" y="3566160"/>
            <a:ext cx="1828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766560" y="3566160"/>
            <a:ext cx="1828800" cy="7315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839712" y="370332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6839712" y="422452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Power (β)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Size Sensitivity &amp; Power Comparison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sample_size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114800" cy="4114800"/>
          </a:xfrm>
          <a:prstGeom prst="rect">
            <a:avLst/>
          </a:prstGeom>
        </p:spPr>
      </p:pic>
      <p:pic>
        <p:nvPicPr>
          <p:cNvPr id="6" name="Image 1" descr="/sessions/nifty-festive-knuth/mnt/Customer_Churn_Analysis/venv/Results/visualizations/power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7772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Expected Impact: $370K Annual Profit (Conservative)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103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10312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$370K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(Conservative Estimate)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804672"/>
            <a:ext cx="2103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804672"/>
            <a:ext cx="210312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9875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6,100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56032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per Year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804672"/>
            <a:ext cx="21031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804672"/>
            <a:ext cx="2103120" cy="54864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9875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84632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Power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1 @ 100/arm)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804672"/>
            <a:ext cx="1737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0" y="804672"/>
            <a:ext cx="173736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0" y="987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7132320" y="16733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Tests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395728"/>
            <a:ext cx="2834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395728"/>
            <a:ext cx="82296" cy="25146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248716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1 — Early Intervention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8912" y="2779776"/>
            <a:ext cx="259689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Conservative: 15% churn reduction among ≤40-day cohort. Monthly revenue saved: ~$18K. Annual impact: ~$216K. Investment: $75–$125/customer. Net ROI positive within 3 months.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27832" y="2395728"/>
            <a:ext cx="2834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27832" y="2395728"/>
            <a:ext cx="82296" cy="251460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92424" y="248716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2 — Contract + Add-on Bundle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92424" y="2779776"/>
            <a:ext cx="259689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causal effect: −5.8pp (87% probability). Month-to-month customers (99.9% of base). Annual impact: ~$104K. Long-term stickiness via contract migration.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1344" y="2395728"/>
            <a:ext cx="2834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81344" y="2395728"/>
            <a:ext cx="82296" cy="2514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45936" y="248716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3 — Targeted Messaging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45936" y="2779776"/>
            <a:ext cx="259689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signal, large addressable segment (31% of base). Low intervention cost. Annual impact: ~$50K. Highest ROI per dollar spent due to minimal cost.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91032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estimates assume lower bounds of credible intervals. Full Bayesian models available in targeted_bayesian_test_design.md  ·  Phase 2–4 scripts in Phase_3_Experimental_Design/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1360</Words>
  <Application>Microsoft Macintosh PowerPoint</Application>
  <PresentationFormat>On-screen Show (16:9)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– Path B: Validate Specific Recommendations</dc:title>
  <dc:subject>PptxGenJS Presentation</dc:subject>
  <dc:creator>Ella Ndalla</dc:creator>
  <cp:lastModifiedBy>Ella Ndalla</cp:lastModifiedBy>
  <cp:revision>4</cp:revision>
  <dcterms:created xsi:type="dcterms:W3CDTF">2026-03-05T19:36:51Z</dcterms:created>
  <dcterms:modified xsi:type="dcterms:W3CDTF">2026-03-06T08:22:49Z</dcterms:modified>
</cp:coreProperties>
</file>
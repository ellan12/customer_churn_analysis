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20116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Prediction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Causal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Bayesian Inference · Experimental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Ndalla  |  Senior Data Scientist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Retention  ·  Google GBS&amp;O Alignment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Challenge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109728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 companies lose significant revenue when customers switch providers.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customers early enables proactive retention strategies before churn occurs.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goes beyond standard churn prediction — it applies rigorous causal inference to distinguish correlation from causation, ensuring business recommendations rest on defensible evidence.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41248"/>
            <a:ext cx="109728" cy="40233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 customer churn accurately using ML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Identify and rank key churn drivers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Apply causal inference to correct methodological biases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Design statistically powered retention experiment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Enable targeted, evidence-based retention strategies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201168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7,043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841248"/>
            <a:ext cx="2011680" cy="7315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4203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Customer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41248"/>
            <a:ext cx="2011680" cy="7315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3659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84124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841248"/>
            <a:ext cx="20116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978408"/>
            <a:ext cx="186537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Kaggle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31152" y="1554480"/>
            <a:ext cx="186537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240280"/>
            <a:ext cx="82296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Senior Citizen · Partner · Dependents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Pre-treatment exogenous variables — valid causal controls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240280"/>
            <a:ext cx="82296" cy="256032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&amp; Contract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071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· Contract Type · Payment Method · Monthly Charges · Total Charges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or downstream — require causal treatment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240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240280"/>
            <a:ext cx="82296" cy="25603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2350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36792" y="2642616"/>
            <a:ext cx="24597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Internet · Streaming · Online Security · Device Protection · Tech Support · Online Backup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add-ons are the primary treatment variable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Multi-Phase Technical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0574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&amp; 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7744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77440" y="777240"/>
            <a:ext cx="2057400" cy="64008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03580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(PySpark)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1460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 AutoML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1460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Ensemble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1460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777240"/>
            <a:ext cx="20574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3892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Inference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role classification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1772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 bias correction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regression (PyMC)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 sampling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0" y="777240"/>
            <a:ext cx="2057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777240"/>
            <a:ext cx="2057400" cy="6400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42048" y="822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Design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2×2×2 factorial design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208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sensitivity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2084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5B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&amp; 2: Machine Learning Results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Comparison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384048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H2O Stacked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1170432"/>
            <a:ext cx="3840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17043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   Decision Tree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   H2O Stacked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3547872"/>
            <a:ext cx="38404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3602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H2O AutoML — Stacked Ensemble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AUC-ROC  |  Best overall performance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 Curve — H2O Stacked Ensemble</a:t>
            </a:r>
            <a:endParaRPr lang="en-US" sz="1100" dirty="0"/>
          </a:p>
        </p:txBody>
      </p:sp>
      <p:pic>
        <p:nvPicPr>
          <p:cNvPr id="15" name="Image 0" descr="/sessions/nifty-festive-knuth/mnt/Customer_Churn_Analysis/Scripts/mlruns/851594783253648064/fdb57616ba1341989465361481117bb6/artifacts/A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97280"/>
            <a:ext cx="42062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 Analysis</a:t>
            </a:r>
            <a:endParaRPr lang="en-US" sz="2200" dirty="0"/>
          </a:p>
        </p:txBody>
      </p:sp>
      <p:pic>
        <p:nvPicPr>
          <p:cNvPr id="5" name="Image 0" descr="/sessions/nifty-festive-knuth/mnt/Customer_Churn_Analysis/Scripts/mlruns/851594783253648064/fdb57616ba1341989465361481117bb6/artifacts/Feature 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75488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0" y="77724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4068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40680" y="1298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19288" y="12984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40680" y="1517904"/>
            <a:ext cx="329184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40680" y="1517904"/>
            <a:ext cx="1152144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0680" y="17922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019288" y="17922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40680" y="2011680"/>
            <a:ext cx="329184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40680" y="2011680"/>
            <a:ext cx="724205" cy="201168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2286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Protection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019288" y="22860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40680" y="2505456"/>
            <a:ext cx="329184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40680" y="2505456"/>
            <a:ext cx="493776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0680" y="27797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Security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019288" y="27797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40680" y="2999232"/>
            <a:ext cx="329184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40680" y="2999232"/>
            <a:ext cx="395021" cy="2011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40680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Support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019288" y="32735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440680" y="3493008"/>
            <a:ext cx="329184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0680" y="3493008"/>
            <a:ext cx="296266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40680" y="3767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019288" y="37673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440680" y="3986784"/>
            <a:ext cx="329184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40680" y="3986784"/>
            <a:ext cx="230429" cy="201168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40680" y="4279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+ Contract Type account for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57% of predictive power.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Evaluation: Confusion Matrix</a:t>
            </a:r>
            <a:endParaRPr lang="en-US" sz="2200" dirty="0"/>
          </a:p>
        </p:txBody>
      </p:sp>
      <p:pic>
        <p:nvPicPr>
          <p:cNvPr id="5" name="Image 0" descr="/sessions/nifty-festive-knuth/mnt/Customer_Churn_Analysis/Scripts/mlruns/851594783253648064/fdb57616ba1341989465361481117bb6/artifacts/Confusion 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45720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0" y="77724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4068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94960" y="128016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94960" y="1280160"/>
            <a:ext cx="82296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9552" y="138988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Positive Rate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59552" y="1682496"/>
            <a:ext cx="3145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identifies ~80% of actual churners — strong recall for targeting at-risk customers.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94960" y="242316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94960" y="2423160"/>
            <a:ext cx="82296" cy="100584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59552" y="253288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Positive Rate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59552" y="2825496"/>
            <a:ext cx="3145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predicted churners are non-churners — acceptable for outreach campaigns where false positives have low cost.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94960" y="356616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94960" y="3566160"/>
            <a:ext cx="82296" cy="10058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9552" y="367588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Imbalance Note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59552" y="3968496"/>
            <a:ext cx="3145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has 26.5% churn rate. Future iterations should evaluate SMOTE or class-weighted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Churn Drivers — Ranked Analysis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churn_drivers_ran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5B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Causal Inference &amp; Methodology Correction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Predictive ML Is Not Enough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91440" cy="7498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analysis treated tenure, contract type, and payment method as confounders — methodologically incorrect. Two-stage causal testing (initial validation → G-computation correction) revealed biases up to +9.7pp. Add-on protection was understated by 158%. These variables are colliders, co-treatments, or mediators — not pre-treatment controls.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64208"/>
            <a:ext cx="82296" cy="98755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73936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COLLIDER — Tenure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066544"/>
            <a:ext cx="8357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BOTH add-on adoption AND survival/churn — controlling for tenure induces survivorship bias. Empirically validated: early tenure effect shifted only −1.5pp after G-computation correction (naive +37.7pp → adjusted +39.2pp), confirming a genuine causal signal with minimal confounding.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43200"/>
            <a:ext cx="82296" cy="98755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852928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OTHER TREATMENT — Contract / Payment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145536"/>
            <a:ext cx="8357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customer choices correlated with loyalty, each requiring a separate identification strategy — not controls. G-computation exposed material overstatement: Month-to-Month +36.0pp naive → +30.6pp adjusted (−5.3pp bias); Electronic check +28.2pp naive → +18.6pp adjusted (−9.7pp bias, 35% overstatement of true effect).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22192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22192"/>
            <a:ext cx="82296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931920"/>
            <a:ext cx="8357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MEDIATOR — Monthly / Total Charges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4224528"/>
            <a:ext cx="8357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sit on the causal path Add-ons → Charges → Churn; controlling for them blocks the very effect being estimated. Most striking consequence: add-on protection naive −5.3pp → adjusted −13.7pp. The naive model understated true protective effect by 158% due to mediator bias.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Variable Classification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Missing_churn_testingfiles/3_valid_invalid_control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5720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777240"/>
            <a:ext cx="3749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257800" y="841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Rule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11704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valid confounder if and only if: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Measured BEFORE treatment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EXOGENOUS — not a customer choice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Common cause of both treatment &amp; outcome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66360" y="2176272"/>
            <a:ext cx="173736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66360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Controls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24871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 · Dependents · Partner · Gender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66360" y="3108960"/>
            <a:ext cx="1737360" cy="2560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0" y="3108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— Remove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57800" y="341985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(collider) · Contract, Payment Method (other treatments) · Monthly/Total Charges (mediators)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Collider Bias: Empirical Demonstration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Collider Stratification Effect</a:t>
            </a:r>
            <a:endParaRPr lang="en-US" sz="1200" dirty="0"/>
          </a:p>
        </p:txBody>
      </p:sp>
      <p:pic>
        <p:nvPicPr>
          <p:cNvPr id="6" name="Image 0" descr="/sessions/nifty-festive-knuth/mnt/Customer_Churn_Analysis/Missing_churn_testingfiles/2_collider_bias_demon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420624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Tenure Effect</a:t>
            </a:r>
            <a:endParaRPr lang="en-US" sz="1200" dirty="0"/>
          </a:p>
        </p:txBody>
      </p:sp>
      <p:pic>
        <p:nvPicPr>
          <p:cNvPr id="8" name="Image 1" descr="/sessions/nifty-festive-knuth/mnt/Customer_Churn_Analysis/Missing_churn_testingfiles/1_early_tenure_eff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206240" cy="3291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for tenure artificially reverses or masks the true service add-on effect — a classic symptom of collider bias. The corrected model excludes tenure from confounders.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Causal Validation — PyMC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trace_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2062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9204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Approach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92040" y="1261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92040" y="1536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logistic regression using PyMC with MCMC sampling (NUTS sampler)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92040" y="2039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Confounders: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92040" y="23134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exogenous demographics: SeniorCitizen, Dependents, Partner, Gender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9204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92040" y="30906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add-on bundle (Device Protection, Online Security, Tech Support)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92040" y="3593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Convergence: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38679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plots confirm MCMC chain convergence (R-hat ≈ 1.0, effective samples &gt; 400)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Posterior Distributions &amp; Predictive Check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posterior_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pic>
        <p:nvPicPr>
          <p:cNvPr id="6" name="Image 1" descr="/sessions/nifty-festive-knuth/mnt/Customer_Churn_Analysis/venv/Results/visualizations/posterior_predictive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7772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Comparison: Before vs After Correction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causa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5B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4: Experimental Design &amp; Monitoring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Power Analysis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power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0060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Design: 2×2×2 Factorial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006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binary factors creating 8 treatment arms: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155448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591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A: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53328" y="15910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Protection bundle (on / off)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214884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2185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B: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53328" y="21854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support outreach (on / off)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00600" y="2743200"/>
            <a:ext cx="3931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C: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53328" y="27797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timing (≤40 days / later)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00600" y="3456432"/>
            <a:ext cx="393192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00600" y="3566160"/>
            <a:ext cx="1828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00600" y="3566160"/>
            <a:ext cx="18288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3752" y="370332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~200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873752" y="422452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Customers/Arm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66560" y="3566160"/>
            <a:ext cx="1828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66560" y="3566160"/>
            <a:ext cx="1828800" cy="7315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39712" y="370332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6839712" y="422452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Power (β)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Size Sensitivity &amp; Power Comparison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sample_size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114800" cy="4114800"/>
          </a:xfrm>
          <a:prstGeom prst="rect">
            <a:avLst/>
          </a:prstGeom>
        </p:spPr>
      </p:pic>
      <p:pic>
        <p:nvPicPr>
          <p:cNvPr id="6" name="Image 1" descr="/sessions/nifty-festive-knuth/mnt/Customer_Churn_Analysis/venv/Results/visualizations/power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7772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Dashboard — Week 6 Monitoring</a:t>
            </a:r>
            <a:endParaRPr lang="en-US" sz="2200" dirty="0"/>
          </a:p>
        </p:txBody>
      </p:sp>
      <p:pic>
        <p:nvPicPr>
          <p:cNvPr id="5" name="Image 0" descr="/sessions/nifty-festive-knuth/mnt/Customer_Churn_Analysis/venv/Results/visualizations/executive_dashboard_week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A5B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Dashboard: Model Predictions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Tenure vs Predicted Churn Probability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91440" cy="43891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2,360 predicted churners  ·  IceFire colour scale: red = highest churn probability (&gt;0.85), blue = marginal (≈0.50)</a:t>
            </a:r>
            <a:endParaRPr lang="en-US" sz="1000" dirty="0"/>
          </a:p>
        </p:txBody>
      </p:sp>
      <p:pic>
        <p:nvPicPr>
          <p:cNvPr id="8" name="Image 0" descr="/sessions/nifty-festive-knuth/chart1_tenure_ch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61872"/>
            <a:ext cx="8595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Charges vs Churn Probability by Contract Type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9144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dominate the high-churn zone at low Total Charges — confirming early exit risk. Annual and two-year contracts cluster at lower churn probability even at high spend.</a:t>
            </a:r>
            <a:endParaRPr lang="en-US" sz="1000" dirty="0"/>
          </a:p>
        </p:txBody>
      </p:sp>
      <p:pic>
        <p:nvPicPr>
          <p:cNvPr id="8" name="Image 0" descr="/sessions/nifty-festive-knuth/chart2_charges_con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61872"/>
            <a:ext cx="859536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Predicted Churn Probability by Categorical Driver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91440" cy="43891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786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categorical features · bar height = average churn probability among predicted churners · bar label = customer count · Bluered: red = highest risk segment</a:t>
            </a:r>
            <a:endParaRPr lang="en-US" sz="1000" dirty="0"/>
          </a:p>
        </p:txBody>
      </p:sp>
      <p:pic>
        <p:nvPicPr>
          <p:cNvPr id="8" name="Image 0" descr="/sessions/nifty-festive-knuth/chart3_categorical_dri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61872"/>
            <a:ext cx="859536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A5B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 &amp; Deployment</a:t>
            </a:r>
            <a:endParaRPr 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Evidence-Based Business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94360" cy="19202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9875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Intervention Program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retention outreach within first 40 days of customer journey. Early tenure effect is the single strongest churn predictor.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8229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822960"/>
            <a:ext cx="594360" cy="192024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54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57800" y="9875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Enhanced Contract Plans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37160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attractive long-term contracts bundled with service add-ons. Month-to-month customers churn at 3× the rate of annual subscribers.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34640"/>
            <a:ext cx="594360" cy="1920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05840" y="29992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Bundle Promotion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383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Device Protection, Online Backup, and Tech Support packages. Causal estimates show significant protective effect against churn.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283464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2834640"/>
            <a:ext cx="5943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257800" y="29992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Targeted Marketing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33832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campaigns on high-risk segments: senior citizens, customers without dependents, first-90-day cohorts.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9144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Interactive Dashboard — AWS Elastic Beanstalk (US-East-1)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churn predictions and customer risk scoring available on demand. Deployed Dash/Plotly application with MLflow model registry integration.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84832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84832"/>
            <a:ext cx="91440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Processing: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194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· Spark SQL · Pandas · NumPy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859536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51760"/>
            <a:ext cx="91440" cy="493776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Modeling: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7614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 AutoML · Stacked Ensemble · MLflow Tracking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218688"/>
            <a:ext cx="91440" cy="4937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Inference: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33284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PyMC · ArviZ · MCMC (NUTS Sampler)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85616"/>
            <a:ext cx="8595360" cy="493776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785616"/>
            <a:ext cx="91440" cy="4937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38953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Plotly · Matplotlib · Seaborn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352544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52544"/>
            <a:ext cx="91440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44622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Elastic Beanstalk · Docker · Procfile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0116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00" cy="6858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correlation to causation — a rigorous end-to-end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384048" cy="3840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2070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 AutoML Stacked Ensemble achieves 87% AUC-ROC — best predictive performance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384048" cy="3840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95681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corrected methodological bias (collider, mediator, endogenous controls)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670048"/>
            <a:ext cx="384048" cy="3840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270662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causal model confirms: service add-ons causally reduce churn probability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384048" cy="3840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34564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2×2×2 factorial experiment designed with 80% power — ready for A/B rollout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169664"/>
            <a:ext cx="384048" cy="3840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42062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monitors KPIs week-over-week for stakeholder transparency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&amp; Causal Analysis</dc:title>
  <dc:subject>PptxGenJS Presentation</dc:subject>
  <dc:creator>Ella Ndalla</dc:creator>
  <cp:lastModifiedBy>Ella Ndalla</cp:lastModifiedBy>
  <cp:revision>1</cp:revision>
  <dcterms:created xsi:type="dcterms:W3CDTF">2026-03-05T18:35:08Z</dcterms:created>
  <dcterms:modified xsi:type="dcterms:W3CDTF">2026-03-05T18:35:08Z</dcterms:modified>
</cp:coreProperties>
</file>